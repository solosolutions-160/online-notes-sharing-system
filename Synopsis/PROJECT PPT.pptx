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sldIdLst>
    <p:sldId id="256" r:id="rId2"/>
    <p:sldId id="257" r:id="rId3"/>
    <p:sldId id="258" r:id="rId4"/>
    <p:sldId id="259" r:id="rId5"/>
    <p:sldId id="260" r:id="rId6"/>
    <p:sldId id="261" r:id="rId7"/>
    <p:sldId id="279" r:id="rId8"/>
    <p:sldId id="280" r:id="rId9"/>
    <p:sldId id="262" r:id="rId10"/>
    <p:sldId id="263" r:id="rId11"/>
    <p:sldId id="264" r:id="rId12"/>
    <p:sldId id="265" r:id="rId13"/>
    <p:sldId id="266" r:id="rId14"/>
    <p:sldId id="267" r:id="rId15"/>
    <p:sldId id="268" r:id="rId16"/>
    <p:sldId id="269" r:id="rId17"/>
    <p:sldId id="270" r:id="rId18"/>
    <p:sldId id="271" r:id="rId19"/>
    <p:sldId id="272" r:id="rId20"/>
    <p:sldId id="288" r:id="rId21"/>
    <p:sldId id="281" r:id="rId22"/>
    <p:sldId id="282" r:id="rId23"/>
    <p:sldId id="283" r:id="rId24"/>
    <p:sldId id="284" r:id="rId25"/>
    <p:sldId id="285" r:id="rId26"/>
    <p:sldId id="286" r:id="rId27"/>
    <p:sldId id="287"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04" d="100"/>
          <a:sy n="104" d="100"/>
        </p:scale>
        <p:origin x="13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CF5AF5-F931-486D-9EAF-0039EF07A9CC}" type="datetimeFigureOut">
              <a:rPr lang="en-US" smtClean="0"/>
              <a:t>9/30/2023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3536031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CF5AF5-F931-486D-9EAF-0039EF07A9CC}" type="datetimeFigureOut">
              <a:rPr lang="en-US" smtClean="0"/>
              <a:t>9/30/2023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833744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CF5AF5-F931-486D-9EAF-0039EF07A9CC}" type="datetimeFigureOut">
              <a:rPr lang="en-US" smtClean="0"/>
              <a:t>9/30/2023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1593297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F5AF5-F931-486D-9EAF-0039EF07A9CC}" type="datetimeFigureOut">
              <a:rPr lang="en-US" smtClean="0"/>
              <a:t>9/30/2023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2634089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CF5AF5-F931-486D-9EAF-0039EF07A9CC}" type="datetimeFigureOut">
              <a:rPr lang="en-US" smtClean="0"/>
              <a:t>9/30/2023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16754811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CF5AF5-F931-486D-9EAF-0039EF07A9CC}" type="datetimeFigureOut">
              <a:rPr lang="en-US" smtClean="0"/>
              <a:t>9/30/2023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1676801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CF5AF5-F931-486D-9EAF-0039EF07A9CC}" type="datetimeFigureOut">
              <a:rPr lang="en-US" smtClean="0"/>
              <a:t>9/30/2023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31503636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CF5AF5-F931-486D-9EAF-0039EF07A9CC}" type="datetimeFigureOut">
              <a:rPr lang="en-US" smtClean="0"/>
              <a:t>9/30/2023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2633125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7CF5AF5-F931-486D-9EAF-0039EF07A9CC}" type="datetimeFigureOut">
              <a:rPr lang="en-US" smtClean="0"/>
              <a:t>9/30/2023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31771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CF5AF5-F931-486D-9EAF-0039EF07A9CC}" type="datetimeFigureOut">
              <a:rPr lang="en-US" smtClean="0"/>
              <a:t>9/30/2023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3163418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CF5AF5-F931-486D-9EAF-0039EF07A9CC}" type="datetimeFigureOut">
              <a:rPr lang="en-US" smtClean="0"/>
              <a:t>9/30/2023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21995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CF5AF5-F931-486D-9EAF-0039EF07A9CC}" type="datetimeFigureOut">
              <a:rPr lang="en-US" smtClean="0"/>
              <a:t>9/30/2023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954328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CF5AF5-F931-486D-9EAF-0039EF07A9CC}" type="datetimeFigureOut">
              <a:rPr lang="en-US" smtClean="0"/>
              <a:t>9/30/2023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001319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CF5AF5-F931-486D-9EAF-0039EF07A9CC}" type="datetimeFigureOut">
              <a:rPr lang="en-US" smtClean="0"/>
              <a:t>9/30/2023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36241286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CF5AF5-F931-486D-9EAF-0039EF07A9CC}" type="datetimeFigureOut">
              <a:rPr lang="en-US" smtClean="0"/>
              <a:t>9/30/2023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28447123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CF5AF5-F931-486D-9EAF-0039EF07A9CC}" type="datetimeFigureOut">
              <a:rPr lang="en-US" smtClean="0"/>
              <a:t>9/30/2023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F9399C1-A621-4C95-8A9C-073662E31DAB}" type="slidenum">
              <a:rPr lang="en-US" smtClean="0"/>
              <a:t>‹#›</a:t>
            </a:fld>
            <a:endParaRPr lang="en-US"/>
          </a:p>
        </p:txBody>
      </p:sp>
    </p:spTree>
    <p:extLst>
      <p:ext uri="{BB962C8B-B14F-4D97-AF65-F5344CB8AC3E}">
        <p14:creationId xmlns:p14="http://schemas.microsoft.com/office/powerpoint/2010/main" val="830806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7CF5AF5-F931-486D-9EAF-0039EF07A9CC}" type="datetimeFigureOut">
              <a:rPr lang="en-US" smtClean="0"/>
              <a:t>9/30/2023</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2F9399C1-A621-4C95-8A9C-073662E31DAB}" type="slidenum">
              <a:rPr lang="en-US" smtClean="0"/>
              <a:t>‹#›</a:t>
            </a:fld>
            <a:endParaRPr lang="en-US"/>
          </a:p>
        </p:txBody>
      </p:sp>
    </p:spTree>
    <p:extLst>
      <p:ext uri="{BB962C8B-B14F-4D97-AF65-F5344CB8AC3E}">
        <p14:creationId xmlns:p14="http://schemas.microsoft.com/office/powerpoint/2010/main" val="666426183"/>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214D2-CF12-D9EF-45A1-E7C43C31468D}"/>
              </a:ext>
            </a:extLst>
          </p:cNvPr>
          <p:cNvSpPr>
            <a:spLocks noGrp="1"/>
          </p:cNvSpPr>
          <p:nvPr>
            <p:ph type="ctrTitle"/>
          </p:nvPr>
        </p:nvSpPr>
        <p:spPr>
          <a:xfrm>
            <a:off x="644201" y="3683647"/>
            <a:ext cx="10263810" cy="732357"/>
          </a:xfrm>
        </p:spPr>
        <p:txBody>
          <a:bodyPr>
            <a:normAutofit fontScale="90000"/>
          </a:bodyPr>
          <a:lstStyle/>
          <a:p>
            <a:pPr algn="ctr"/>
            <a:br>
              <a:rPr lang="en-US" sz="4400" dirty="0">
                <a:solidFill>
                  <a:srgbClr val="002060"/>
                </a:solidFill>
              </a:rPr>
            </a:br>
            <a:r>
              <a:rPr lang="en-US" sz="4400" dirty="0">
                <a:solidFill>
                  <a:srgbClr val="002060"/>
                </a:solidFill>
              </a:rPr>
              <a:t>“Employee Management System”</a:t>
            </a:r>
          </a:p>
        </p:txBody>
      </p:sp>
      <p:sp>
        <p:nvSpPr>
          <p:cNvPr id="3" name="Subtitle 2">
            <a:extLst>
              <a:ext uri="{FF2B5EF4-FFF2-40B4-BE49-F238E27FC236}">
                <a16:creationId xmlns:a16="http://schemas.microsoft.com/office/drawing/2014/main" id="{0425E56E-C02E-4C16-E594-C049EC34A86F}"/>
              </a:ext>
            </a:extLst>
          </p:cNvPr>
          <p:cNvSpPr>
            <a:spLocks noGrp="1"/>
          </p:cNvSpPr>
          <p:nvPr>
            <p:ph type="subTitle" idx="1"/>
          </p:nvPr>
        </p:nvSpPr>
        <p:spPr>
          <a:xfrm>
            <a:off x="644201" y="3062821"/>
            <a:ext cx="9607826" cy="732357"/>
          </a:xfrm>
        </p:spPr>
        <p:txBody>
          <a:bodyPr>
            <a:normAutofit/>
          </a:bodyPr>
          <a:lstStyle/>
          <a:p>
            <a:pPr algn="ctr"/>
            <a:r>
              <a:rPr lang="en-US" sz="3600" b="1" dirty="0">
                <a:solidFill>
                  <a:schemeClr val="tx1"/>
                </a:solidFill>
                <a:latin typeface="Aparajita" panose="02020603050405020304" pitchFamily="18" charset="0"/>
                <a:cs typeface="Aparajita" panose="02020603050405020304" pitchFamily="18" charset="0"/>
              </a:rPr>
              <a:t>PROJECT TITLE</a:t>
            </a:r>
          </a:p>
        </p:txBody>
      </p:sp>
      <p:sp>
        <p:nvSpPr>
          <p:cNvPr id="6" name="TextBox 5">
            <a:extLst>
              <a:ext uri="{FF2B5EF4-FFF2-40B4-BE49-F238E27FC236}">
                <a16:creationId xmlns:a16="http://schemas.microsoft.com/office/drawing/2014/main" id="{09DF33EE-366A-177F-E99B-E7F38E243818}"/>
              </a:ext>
            </a:extLst>
          </p:cNvPr>
          <p:cNvSpPr txBox="1"/>
          <p:nvPr/>
        </p:nvSpPr>
        <p:spPr>
          <a:xfrm>
            <a:off x="6215270" y="5643620"/>
            <a:ext cx="4611756" cy="1477328"/>
          </a:xfrm>
          <a:prstGeom prst="rect">
            <a:avLst/>
          </a:prstGeom>
          <a:noFill/>
        </p:spPr>
        <p:txBody>
          <a:bodyPr wrap="square">
            <a:spAutoFit/>
          </a:bodyPr>
          <a:lstStyle/>
          <a:p>
            <a:pPr algn="r"/>
            <a:r>
              <a:rPr lang="en-US" sz="2400" dirty="0">
                <a:solidFill>
                  <a:srgbClr val="002060"/>
                </a:solidFill>
                <a:effectLst/>
                <a:latin typeface="Aparajita" panose="02020603050405020304" pitchFamily="18" charset="0"/>
                <a:ea typeface="Times New Roman" panose="02020603050405020304" pitchFamily="18" charset="0"/>
                <a:cs typeface="Aparajita" panose="02020603050405020304" pitchFamily="18" charset="0"/>
              </a:rPr>
              <a:t>SUBMITTED BY: </a:t>
            </a:r>
          </a:p>
          <a:p>
            <a:pPr algn="r"/>
            <a:r>
              <a:rPr lang="en-US" sz="2400" b="1" dirty="0">
                <a:solidFill>
                  <a:srgbClr val="002060"/>
                </a:solidFill>
                <a:effectLst/>
                <a:latin typeface="Aparajita" panose="02020603050405020304" pitchFamily="18" charset="0"/>
                <a:ea typeface="Times New Roman" panose="02020603050405020304" pitchFamily="18" charset="0"/>
                <a:cs typeface="Aparajita" panose="02020603050405020304" pitchFamily="18" charset="0"/>
              </a:rPr>
              <a:t>TEJAS. R. SHINDE [13214]</a:t>
            </a:r>
          </a:p>
          <a:p>
            <a:pPr algn="r"/>
            <a:r>
              <a:rPr lang="en-US" sz="2400" b="1" dirty="0">
                <a:solidFill>
                  <a:srgbClr val="002060"/>
                </a:solidFill>
                <a:latin typeface="Aparajita" panose="02020603050405020304" pitchFamily="18" charset="0"/>
                <a:ea typeface="Times New Roman" panose="02020603050405020304" pitchFamily="18" charset="0"/>
                <a:cs typeface="Aparajita" panose="02020603050405020304" pitchFamily="18" charset="0"/>
              </a:rPr>
              <a:t>TEJAS. S. TAWARE[</a:t>
            </a:r>
            <a:r>
              <a:rPr lang="en-US" sz="2400" b="1" dirty="0">
                <a:solidFill>
                  <a:srgbClr val="002060"/>
                </a:solidFill>
                <a:effectLst/>
                <a:latin typeface="Aparajita" panose="02020603050405020304" pitchFamily="18" charset="0"/>
                <a:ea typeface="Times New Roman" panose="02020603050405020304" pitchFamily="18" charset="0"/>
                <a:cs typeface="Aparajita" panose="02020603050405020304" pitchFamily="18" charset="0"/>
              </a:rPr>
              <a:t>13217]</a:t>
            </a:r>
            <a:endParaRPr lang="en-US" sz="2400" b="1" dirty="0">
              <a:solidFill>
                <a:srgbClr val="002060"/>
              </a:solidFill>
              <a:latin typeface="Aparajita" panose="02020603050405020304" pitchFamily="18" charset="0"/>
              <a:cs typeface="Aparajita" panose="02020603050405020304" pitchFamily="18" charset="0"/>
            </a:endParaRPr>
          </a:p>
          <a:p>
            <a:pPr algn="ctr"/>
            <a:endParaRPr lang="en-US" dirty="0"/>
          </a:p>
        </p:txBody>
      </p:sp>
      <p:sp>
        <p:nvSpPr>
          <p:cNvPr id="8" name="TextBox 7">
            <a:extLst>
              <a:ext uri="{FF2B5EF4-FFF2-40B4-BE49-F238E27FC236}">
                <a16:creationId xmlns:a16="http://schemas.microsoft.com/office/drawing/2014/main" id="{0F947CE6-4BA9-6419-DD54-0A8562399CA8}"/>
              </a:ext>
            </a:extLst>
          </p:cNvPr>
          <p:cNvSpPr txBox="1"/>
          <p:nvPr/>
        </p:nvSpPr>
        <p:spPr>
          <a:xfrm>
            <a:off x="135836" y="5643620"/>
            <a:ext cx="7444408" cy="1754326"/>
          </a:xfrm>
          <a:prstGeom prst="rect">
            <a:avLst/>
          </a:prstGeom>
          <a:noFill/>
        </p:spPr>
        <p:txBody>
          <a:bodyPr wrap="square">
            <a:spAutoFit/>
          </a:bodyPr>
          <a:lstStyle/>
          <a:p>
            <a:r>
              <a:rPr lang="en-US" sz="2400" dirty="0">
                <a:solidFill>
                  <a:srgbClr val="002060"/>
                </a:solidFill>
                <a:effectLst/>
                <a:latin typeface="Aparajita" panose="02020603050405020304" pitchFamily="18" charset="0"/>
                <a:ea typeface="Times New Roman" panose="02020603050405020304" pitchFamily="18" charset="0"/>
                <a:cs typeface="Aparajita" panose="02020603050405020304" pitchFamily="18" charset="0"/>
              </a:rPr>
              <a:t>PROJECT GUIDE:                                                                                             </a:t>
            </a:r>
          </a:p>
          <a:p>
            <a:r>
              <a:rPr lang="en-US" sz="2400" b="1" i="0" dirty="0">
                <a:solidFill>
                  <a:srgbClr val="002060"/>
                </a:solidFill>
                <a:effectLst/>
                <a:latin typeface="Aparajita" panose="02020603050405020304" pitchFamily="18" charset="0"/>
                <a:cs typeface="Aparajita" panose="02020603050405020304" pitchFamily="18" charset="0"/>
              </a:rPr>
              <a:t>Prof. </a:t>
            </a:r>
            <a:r>
              <a:rPr lang="en-US" sz="2400" b="1" dirty="0">
                <a:solidFill>
                  <a:srgbClr val="002060"/>
                </a:solidFill>
                <a:latin typeface="Aparajita" panose="02020603050405020304" pitchFamily="18" charset="0"/>
                <a:cs typeface="Aparajita" panose="02020603050405020304" pitchFamily="18" charset="0"/>
              </a:rPr>
              <a:t>N.H. Shaikh</a:t>
            </a:r>
            <a:endParaRPr lang="en-US" sz="2400" b="1" dirty="0">
              <a:solidFill>
                <a:srgbClr val="002060"/>
              </a:solidFill>
              <a:effectLst/>
              <a:latin typeface="Aparajita" panose="02020603050405020304" pitchFamily="18" charset="0"/>
              <a:ea typeface="Times New Roman" panose="02020603050405020304" pitchFamily="18" charset="0"/>
              <a:cs typeface="Aparajita" panose="02020603050405020304" pitchFamily="18" charset="0"/>
            </a:endParaRPr>
          </a:p>
          <a:p>
            <a:endParaRPr lang="en-US" sz="2400" b="1" dirty="0">
              <a:solidFill>
                <a:srgbClr val="002060"/>
              </a:solidFill>
              <a:latin typeface="Aparajita" panose="02020603050405020304" pitchFamily="18" charset="0"/>
              <a:ea typeface="Times New Roman" panose="02020603050405020304" pitchFamily="18" charset="0"/>
              <a:cs typeface="Aparajita" panose="02020603050405020304" pitchFamily="18" charset="0"/>
            </a:endParaRPr>
          </a:p>
          <a:p>
            <a:endParaRPr lang="en-US" b="1" dirty="0">
              <a:latin typeface="Aparajita" panose="02020603050405020304" pitchFamily="18" charset="0"/>
              <a:cs typeface="Aparajita" panose="02020603050405020304" pitchFamily="18" charset="0"/>
            </a:endParaRPr>
          </a:p>
          <a:p>
            <a:endParaRPr lang="en-US" dirty="0"/>
          </a:p>
        </p:txBody>
      </p:sp>
      <p:pic>
        <p:nvPicPr>
          <p:cNvPr id="7" name="Picture 6">
            <a:extLst>
              <a:ext uri="{FF2B5EF4-FFF2-40B4-BE49-F238E27FC236}">
                <a16:creationId xmlns:a16="http://schemas.microsoft.com/office/drawing/2014/main" id="{137C40CB-F0C3-50D0-296A-EE28E18A8E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1226" y="180310"/>
            <a:ext cx="2901892" cy="1865502"/>
          </a:xfrm>
          <a:prstGeom prst="rect">
            <a:avLst/>
          </a:prstGeom>
        </p:spPr>
      </p:pic>
      <p:sp>
        <p:nvSpPr>
          <p:cNvPr id="5" name="TextBox 4">
            <a:extLst>
              <a:ext uri="{FF2B5EF4-FFF2-40B4-BE49-F238E27FC236}">
                <a16:creationId xmlns:a16="http://schemas.microsoft.com/office/drawing/2014/main" id="{3D927F0E-1594-4519-86DC-5AA58CDF7360}"/>
              </a:ext>
            </a:extLst>
          </p:cNvPr>
          <p:cNvSpPr txBox="1"/>
          <p:nvPr/>
        </p:nvSpPr>
        <p:spPr>
          <a:xfrm>
            <a:off x="323574" y="2045812"/>
            <a:ext cx="9607826" cy="954107"/>
          </a:xfrm>
          <a:prstGeom prst="rect">
            <a:avLst/>
          </a:prstGeom>
          <a:noFill/>
        </p:spPr>
        <p:txBody>
          <a:bodyPr wrap="square" rtlCol="0">
            <a:spAutoFit/>
          </a:bodyPr>
          <a:lstStyle/>
          <a:p>
            <a:pPr algn="ctr"/>
            <a:r>
              <a:rPr lang="en-US" sz="2800" b="1" dirty="0">
                <a:latin typeface="Aparajita" panose="02020603050405020304" pitchFamily="18" charset="0"/>
                <a:cs typeface="Aparajita" panose="02020603050405020304" pitchFamily="18" charset="0"/>
              </a:rPr>
              <a:t>     </a:t>
            </a:r>
            <a:r>
              <a:rPr lang="en-US" sz="2800" b="1" dirty="0" err="1">
                <a:latin typeface="Aparajita" panose="02020603050405020304" pitchFamily="18" charset="0"/>
                <a:cs typeface="Aparajita" panose="02020603050405020304" pitchFamily="18" charset="0"/>
              </a:rPr>
              <a:t>Tuljaram</a:t>
            </a:r>
            <a:r>
              <a:rPr lang="en-US" sz="2800" b="1" dirty="0">
                <a:latin typeface="Aparajita" panose="02020603050405020304" pitchFamily="18" charset="0"/>
                <a:cs typeface="Aparajita" panose="02020603050405020304" pitchFamily="18" charset="0"/>
              </a:rPr>
              <a:t> </a:t>
            </a:r>
            <a:r>
              <a:rPr lang="en-US" sz="2800" b="1" dirty="0" err="1">
                <a:latin typeface="Aparajita" panose="02020603050405020304" pitchFamily="18" charset="0"/>
                <a:cs typeface="Aparajita" panose="02020603050405020304" pitchFamily="18" charset="0"/>
              </a:rPr>
              <a:t>Chaturchand</a:t>
            </a:r>
            <a:r>
              <a:rPr lang="en-US" sz="2800" b="1" dirty="0">
                <a:latin typeface="Aparajita" panose="02020603050405020304" pitchFamily="18" charset="0"/>
                <a:cs typeface="Aparajita" panose="02020603050405020304" pitchFamily="18" charset="0"/>
              </a:rPr>
              <a:t> College of Arts, Science and Commerce</a:t>
            </a:r>
          </a:p>
          <a:p>
            <a:pPr algn="ctr"/>
            <a:r>
              <a:rPr lang="en-US" sz="2800" b="1" dirty="0">
                <a:latin typeface="Aparajita" panose="02020603050405020304" pitchFamily="18" charset="0"/>
                <a:cs typeface="Aparajita" panose="02020603050405020304" pitchFamily="18" charset="0"/>
              </a:rPr>
              <a:t>         Baramati</a:t>
            </a:r>
          </a:p>
        </p:txBody>
      </p:sp>
    </p:spTree>
    <p:extLst>
      <p:ext uri="{BB962C8B-B14F-4D97-AF65-F5344CB8AC3E}">
        <p14:creationId xmlns:p14="http://schemas.microsoft.com/office/powerpoint/2010/main" val="370785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C40E5-722E-610E-7A1B-FB3E651665C7}"/>
              </a:ext>
            </a:extLst>
          </p:cNvPr>
          <p:cNvSpPr>
            <a:spLocks noGrp="1"/>
          </p:cNvSpPr>
          <p:nvPr>
            <p:ph type="title"/>
          </p:nvPr>
        </p:nvSpPr>
        <p:spPr>
          <a:xfrm>
            <a:off x="359282" y="371061"/>
            <a:ext cx="8596668" cy="1320800"/>
          </a:xfrm>
        </p:spPr>
        <p:txBody>
          <a:bodyPr>
            <a:normAutofit/>
          </a:bodyPr>
          <a:lstStyle/>
          <a:p>
            <a:pPr algn="ctr"/>
            <a:r>
              <a:rPr lang="en-US" sz="4800" b="1" dirty="0">
                <a:solidFill>
                  <a:schemeClr val="tx1"/>
                </a:solidFill>
                <a:latin typeface="Aparajita" panose="02020603050405020304" pitchFamily="18" charset="0"/>
                <a:cs typeface="Aparajita" panose="02020603050405020304" pitchFamily="18" charset="0"/>
              </a:rPr>
              <a:t>INTRODUCTION</a:t>
            </a:r>
          </a:p>
        </p:txBody>
      </p:sp>
      <p:sp>
        <p:nvSpPr>
          <p:cNvPr id="3" name="Content Placeholder 2">
            <a:extLst>
              <a:ext uri="{FF2B5EF4-FFF2-40B4-BE49-F238E27FC236}">
                <a16:creationId xmlns:a16="http://schemas.microsoft.com/office/drawing/2014/main" id="{0B80D9C3-304E-FC3B-7CB2-3D15C535D478}"/>
              </a:ext>
            </a:extLst>
          </p:cNvPr>
          <p:cNvSpPr>
            <a:spLocks noGrp="1"/>
          </p:cNvSpPr>
          <p:nvPr>
            <p:ph idx="1"/>
          </p:nvPr>
        </p:nvSpPr>
        <p:spPr>
          <a:xfrm>
            <a:off x="677334" y="1245704"/>
            <a:ext cx="8596668" cy="5340625"/>
          </a:xfrm>
        </p:spPr>
        <p:txBody>
          <a:bodyPr>
            <a:normAutofit/>
          </a:bodyPr>
          <a:lstStyle/>
          <a:p>
            <a:pPr lvl="0">
              <a:lnSpc>
                <a:spcPct val="107000"/>
              </a:lnSpc>
              <a:spcBef>
                <a:spcPts val="0"/>
              </a:spcBef>
              <a:spcAft>
                <a:spcPts val="800"/>
              </a:spcAft>
              <a:buFont typeface="Wingdings" panose="05000000000000000000" pitchFamily="2" charset="2"/>
              <a:buChar char=""/>
            </a:pPr>
            <a:r>
              <a:rPr lang="en-US" sz="2400" kern="100" dirty="0">
                <a:latin typeface="Aparajita" panose="02020603050405020304" pitchFamily="18" charset="0"/>
                <a:ea typeface="Calibri" panose="020F0502020204030204" pitchFamily="34" charset="0"/>
                <a:cs typeface="Aparajita" panose="02020603050405020304" pitchFamily="18" charset="0"/>
              </a:rPr>
              <a:t>The Employee Management System is a comprehensive software solution designed to streamline and automate the processes related to managing employees within an organization. It aims to enhance efficiency, accuracy, and productivity by digitizing and centralizing employee information, HR tasks, and administrative procedures.</a:t>
            </a:r>
          </a:p>
          <a:p>
            <a:pPr lvl="0">
              <a:lnSpc>
                <a:spcPct val="107000"/>
              </a:lnSpc>
              <a:spcBef>
                <a:spcPts val="0"/>
              </a:spcBef>
              <a:buFont typeface="Wingdings" panose="05000000000000000000" pitchFamily="2" charset="2"/>
              <a:buChar char=""/>
            </a:pPr>
            <a:r>
              <a:rPr lang="en-US" sz="2400" kern="100" dirty="0">
                <a:latin typeface="Aparajita" panose="02020603050405020304" pitchFamily="18" charset="0"/>
                <a:ea typeface="Calibri" panose="020F0502020204030204" pitchFamily="34" charset="0"/>
                <a:cs typeface="Aparajita" panose="02020603050405020304" pitchFamily="18" charset="0"/>
              </a:rPr>
              <a:t>The system offers a user-friendly interface accessible to HR personnel and employees, facilitating seamless collaboration and communication across the organization. The system provides a centralized employee database to store and manage comprehensive information about each employee, including personal details, employment history, skills, qualifications, and performance records. It ensures data accuracy and eliminates manual paperwork.</a:t>
            </a:r>
          </a:p>
          <a:p>
            <a:pPr marL="0" marR="0" indent="0">
              <a:lnSpc>
                <a:spcPct val="107000"/>
              </a:lnSpc>
              <a:spcBef>
                <a:spcPts val="0"/>
              </a:spcBef>
              <a:spcAft>
                <a:spcPts val="800"/>
              </a:spcAft>
              <a:buNone/>
            </a:pPr>
            <a:endParaRPr lang="en-US" sz="1600" kern="100" dirty="0">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US" sz="2400" dirty="0">
              <a:latin typeface="Aparajita" panose="02020603050405020304" pitchFamily="18" charset="0"/>
              <a:cs typeface="Aparajita" panose="02020603050405020304" pitchFamily="18" charset="0"/>
            </a:endParaRPr>
          </a:p>
        </p:txBody>
      </p:sp>
    </p:spTree>
    <p:extLst>
      <p:ext uri="{BB962C8B-B14F-4D97-AF65-F5344CB8AC3E}">
        <p14:creationId xmlns:p14="http://schemas.microsoft.com/office/powerpoint/2010/main" val="85667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7E5E4-BC22-3002-09FA-B29305B45DF4}"/>
              </a:ext>
            </a:extLst>
          </p:cNvPr>
          <p:cNvSpPr>
            <a:spLocks noGrp="1"/>
          </p:cNvSpPr>
          <p:nvPr>
            <p:ph type="title"/>
          </p:nvPr>
        </p:nvSpPr>
        <p:spPr/>
        <p:txBody>
          <a:bodyPr>
            <a:normAutofit/>
          </a:bodyPr>
          <a:lstStyle/>
          <a:p>
            <a:pPr algn="ctr"/>
            <a:r>
              <a:rPr lang="en-US" sz="4800" b="1" dirty="0">
                <a:solidFill>
                  <a:schemeClr val="tx1"/>
                </a:solidFill>
                <a:latin typeface="Aparajita" panose="02020603050405020304" pitchFamily="18" charset="0"/>
                <a:cs typeface="Aparajita" panose="02020603050405020304" pitchFamily="18" charset="0"/>
              </a:rPr>
              <a:t>SCOPE OF SYSTEM</a:t>
            </a:r>
          </a:p>
        </p:txBody>
      </p:sp>
      <p:sp>
        <p:nvSpPr>
          <p:cNvPr id="3" name="Content Placeholder 2">
            <a:extLst>
              <a:ext uri="{FF2B5EF4-FFF2-40B4-BE49-F238E27FC236}">
                <a16:creationId xmlns:a16="http://schemas.microsoft.com/office/drawing/2014/main" id="{D5E8D59C-7785-269C-AC11-0A86528D1519}"/>
              </a:ext>
            </a:extLst>
          </p:cNvPr>
          <p:cNvSpPr>
            <a:spLocks noGrp="1"/>
          </p:cNvSpPr>
          <p:nvPr>
            <p:ph idx="1"/>
          </p:nvPr>
        </p:nvSpPr>
        <p:spPr>
          <a:xfrm>
            <a:off x="291024" y="1431234"/>
            <a:ext cx="9369287" cy="5257433"/>
          </a:xfrm>
        </p:spPr>
        <p:txBody>
          <a:bodyPr>
            <a:normAutofit fontScale="62500" lnSpcReduction="20000"/>
          </a:bodyPr>
          <a:lstStyle/>
          <a:p>
            <a:pPr marL="0" marR="0" indent="0">
              <a:lnSpc>
                <a:spcPct val="107000"/>
              </a:lnSpc>
              <a:spcBef>
                <a:spcPts val="0"/>
              </a:spcBef>
              <a:spcAft>
                <a:spcPts val="800"/>
              </a:spcAft>
              <a:buNone/>
              <a:tabLst>
                <a:tab pos="1152525" algn="l"/>
              </a:tabLst>
            </a:pPr>
            <a:r>
              <a:rPr lang="en-US" sz="4400" kern="100" dirty="0">
                <a:latin typeface="Aparajita" panose="02020603050405020304" pitchFamily="18" charset="0"/>
                <a:ea typeface="Calibri" panose="020F0502020204030204" pitchFamily="34" charset="0"/>
                <a:cs typeface="Aparajita" panose="02020603050405020304" pitchFamily="18" charset="0"/>
              </a:rPr>
              <a:t>The scope of the Employee Management System includes the following key aspects:</a:t>
            </a:r>
          </a:p>
          <a:p>
            <a:pPr marL="0" marR="0" indent="0">
              <a:lnSpc>
                <a:spcPct val="107000"/>
              </a:lnSpc>
              <a:spcBef>
                <a:spcPts val="0"/>
              </a:spcBef>
              <a:spcAft>
                <a:spcPts val="800"/>
              </a:spcAft>
              <a:buNone/>
              <a:tabLst>
                <a:tab pos="1152525" algn="l"/>
              </a:tabLst>
            </a:pPr>
            <a:endParaRPr lang="en-US" sz="4400" kern="100" dirty="0">
              <a:latin typeface="Aparajita" panose="02020603050405020304" pitchFamily="18" charset="0"/>
              <a:ea typeface="Calibri" panose="020F0502020204030204" pitchFamily="34" charset="0"/>
              <a:cs typeface="Aparajita" panose="02020603050405020304" pitchFamily="18" charset="0"/>
            </a:endParaRPr>
          </a:p>
          <a:p>
            <a:pPr lvl="0">
              <a:lnSpc>
                <a:spcPct val="107000"/>
              </a:lnSpc>
              <a:spcBef>
                <a:spcPts val="0"/>
              </a:spcBef>
              <a:spcAft>
                <a:spcPts val="800"/>
              </a:spcAft>
              <a:buFont typeface="Wingdings" panose="05000000000000000000" pitchFamily="2" charset="2"/>
              <a:buChar char=""/>
              <a:tabLst>
                <a:tab pos="1152525" algn="l"/>
              </a:tabLst>
            </a:pPr>
            <a:r>
              <a:rPr lang="en-US" sz="4400" b="1" kern="100" dirty="0">
                <a:latin typeface="Aparajita" panose="02020603050405020304" pitchFamily="18" charset="0"/>
                <a:ea typeface="Calibri" panose="020F0502020204030204" pitchFamily="34" charset="0"/>
                <a:cs typeface="Aparajita" panose="02020603050405020304" pitchFamily="18" charset="0"/>
              </a:rPr>
              <a:t>Employee Information Management</a:t>
            </a:r>
            <a:r>
              <a:rPr lang="en-US" sz="4400" kern="100" dirty="0">
                <a:latin typeface="Aparajita" panose="02020603050405020304" pitchFamily="18" charset="0"/>
                <a:ea typeface="Calibri" panose="020F0502020204030204" pitchFamily="34" charset="0"/>
                <a:cs typeface="Aparajita" panose="02020603050405020304" pitchFamily="18" charset="0"/>
              </a:rPr>
              <a:t>: The system will capture and store comprehensive employee information, including personal details, contact information, employment history, skills, certifications, performance records, and other relevant data.</a:t>
            </a:r>
          </a:p>
          <a:p>
            <a:pPr marL="0" lvl="0" indent="0">
              <a:lnSpc>
                <a:spcPct val="107000"/>
              </a:lnSpc>
              <a:spcBef>
                <a:spcPts val="0"/>
              </a:spcBef>
              <a:spcAft>
                <a:spcPts val="800"/>
              </a:spcAft>
              <a:buNone/>
              <a:tabLst>
                <a:tab pos="1152525" algn="l"/>
              </a:tabLst>
            </a:pPr>
            <a:endParaRPr lang="en-US" sz="4400" kern="100" dirty="0">
              <a:latin typeface="Aparajita" panose="02020603050405020304" pitchFamily="18" charset="0"/>
              <a:ea typeface="Calibri" panose="020F0502020204030204" pitchFamily="34" charset="0"/>
              <a:cs typeface="Aparajita" panose="02020603050405020304" pitchFamily="18" charset="0"/>
            </a:endParaRPr>
          </a:p>
          <a:p>
            <a:pPr lvl="0">
              <a:lnSpc>
                <a:spcPct val="107000"/>
              </a:lnSpc>
              <a:spcBef>
                <a:spcPts val="0"/>
              </a:spcBef>
              <a:spcAft>
                <a:spcPts val="800"/>
              </a:spcAft>
              <a:buFont typeface="Wingdings" panose="05000000000000000000" pitchFamily="2" charset="2"/>
              <a:buChar char=""/>
            </a:pPr>
            <a:r>
              <a:rPr lang="en-US" sz="4400" b="1" kern="100" dirty="0">
                <a:latin typeface="Aparajita" panose="02020603050405020304" pitchFamily="18" charset="0"/>
                <a:ea typeface="Calibri" panose="020F0502020204030204" pitchFamily="34" charset="0"/>
                <a:cs typeface="Aparajita" panose="02020603050405020304" pitchFamily="18" charset="0"/>
              </a:rPr>
              <a:t>Design of an HR management</a:t>
            </a:r>
            <a:r>
              <a:rPr lang="en-US" sz="4400" kern="100" dirty="0">
                <a:latin typeface="Aparajita" panose="02020603050405020304" pitchFamily="18" charset="0"/>
                <a:ea typeface="Calibri" panose="020F0502020204030204" pitchFamily="34" charset="0"/>
                <a:cs typeface="Aparajita" panose="02020603050405020304" pitchFamily="18" charset="0"/>
              </a:rPr>
              <a:t>: system to meet needs such as adding and deleting employees, viewing and printing employee data, and updating employee information. Employee data is stored in a well-designed database. An easy-to-use interface that will let user interact with the system.</a:t>
            </a:r>
          </a:p>
          <a:p>
            <a:pPr>
              <a:lnSpc>
                <a:spcPct val="125000"/>
              </a:lnSpc>
              <a:spcBef>
                <a:spcPts val="0"/>
              </a:spcBef>
            </a:pPr>
            <a:endParaRPr lang="en-US" sz="8600" dirty="0">
              <a:solidFill>
                <a:srgbClr val="002060"/>
              </a:solidFill>
              <a:effectLst/>
              <a:latin typeface="Aparajita" panose="02020603050405020304" pitchFamily="18" charset="0"/>
              <a:ea typeface="Times New Roman" panose="02020603050405020304" pitchFamily="18" charset="0"/>
              <a:cs typeface="Aparajita" panose="02020603050405020304" pitchFamily="18" charset="0"/>
            </a:endParaRPr>
          </a:p>
          <a:p>
            <a:pPr marL="0" indent="0">
              <a:buNone/>
            </a:pPr>
            <a:endParaRPr lang="en-US" dirty="0"/>
          </a:p>
        </p:txBody>
      </p:sp>
    </p:spTree>
    <p:extLst>
      <p:ext uri="{BB962C8B-B14F-4D97-AF65-F5344CB8AC3E}">
        <p14:creationId xmlns:p14="http://schemas.microsoft.com/office/powerpoint/2010/main" val="21733552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7D729-6C1B-4FBA-8CAB-C130ADAE54CB}"/>
              </a:ext>
            </a:extLst>
          </p:cNvPr>
          <p:cNvSpPr>
            <a:spLocks noGrp="1"/>
          </p:cNvSpPr>
          <p:nvPr>
            <p:ph type="title"/>
          </p:nvPr>
        </p:nvSpPr>
        <p:spPr/>
        <p:txBody>
          <a:bodyPr>
            <a:normAutofit/>
          </a:bodyPr>
          <a:lstStyle/>
          <a:p>
            <a:pPr algn="ctr"/>
            <a:r>
              <a:rPr lang="en-US" sz="4800" b="1" dirty="0">
                <a:solidFill>
                  <a:schemeClr val="tx1"/>
                </a:solidFill>
                <a:latin typeface="Aparajita" panose="02020603050405020304" pitchFamily="18" charset="0"/>
                <a:cs typeface="Aparajita" panose="02020603050405020304" pitchFamily="18" charset="0"/>
              </a:rPr>
              <a:t>EXISTING SYSTEM</a:t>
            </a:r>
          </a:p>
        </p:txBody>
      </p:sp>
      <p:sp>
        <p:nvSpPr>
          <p:cNvPr id="3" name="Content Placeholder 2">
            <a:extLst>
              <a:ext uri="{FF2B5EF4-FFF2-40B4-BE49-F238E27FC236}">
                <a16:creationId xmlns:a16="http://schemas.microsoft.com/office/drawing/2014/main" id="{BE5733F4-EC72-FEAB-DEAF-7F975890AA7B}"/>
              </a:ext>
            </a:extLst>
          </p:cNvPr>
          <p:cNvSpPr>
            <a:spLocks noGrp="1"/>
          </p:cNvSpPr>
          <p:nvPr>
            <p:ph idx="1"/>
          </p:nvPr>
        </p:nvSpPr>
        <p:spPr>
          <a:xfrm>
            <a:off x="677334" y="1696279"/>
            <a:ext cx="9049762" cy="5261112"/>
          </a:xfrm>
        </p:spPr>
        <p:txBody>
          <a:bodyPr/>
          <a:lstStyle/>
          <a:p>
            <a:pPr marL="0" indent="0">
              <a:buNone/>
            </a:pPr>
            <a:r>
              <a:rPr lang="en-US" sz="2400" dirty="0">
                <a:latin typeface="Aparajita" panose="02020603050405020304" pitchFamily="18" charset="0"/>
                <a:cs typeface="Aparajita" panose="02020603050405020304" pitchFamily="18" charset="0"/>
              </a:rPr>
              <a:t>The existing system for Employee Management typically involves manual and paper-based processes, which can be time-consuming, error-prone, and inefficient. </a:t>
            </a:r>
          </a:p>
          <a:p>
            <a:r>
              <a:rPr lang="en-US" sz="2400" b="1" dirty="0">
                <a:latin typeface="Aparajita" panose="02020603050405020304" pitchFamily="18" charset="0"/>
                <a:cs typeface="Aparajita" panose="02020603050405020304" pitchFamily="18" charset="0"/>
              </a:rPr>
              <a:t>Manual Data Entry</a:t>
            </a:r>
            <a:r>
              <a:rPr lang="en-US" sz="2400" dirty="0">
                <a:latin typeface="Aparajita" panose="02020603050405020304" pitchFamily="18" charset="0"/>
                <a:cs typeface="Aparajita" panose="02020603050405020304" pitchFamily="18" charset="0"/>
              </a:rPr>
              <a:t>: Employee information is often stored in physical files or spreadsheets, requiring manual data entry and updating. </a:t>
            </a:r>
          </a:p>
          <a:p>
            <a:r>
              <a:rPr lang="en-US" sz="2400" b="1" dirty="0">
                <a:latin typeface="Aparajita" panose="02020603050405020304" pitchFamily="18" charset="0"/>
                <a:cs typeface="Aparajita" panose="02020603050405020304" pitchFamily="18" charset="0"/>
              </a:rPr>
              <a:t>Limited Accessibility</a:t>
            </a:r>
            <a:r>
              <a:rPr lang="en-US" sz="2400" dirty="0">
                <a:latin typeface="Aparajita" panose="02020603050405020304" pitchFamily="18" charset="0"/>
                <a:cs typeface="Aparajita" panose="02020603050405020304" pitchFamily="18" charset="0"/>
              </a:rPr>
              <a:t>: Access to employee data and information is restricted to specific individuals or departments, leading to delays in retrieving necessary information and reducing collaboration across the organization.</a:t>
            </a:r>
          </a:p>
          <a:p>
            <a:r>
              <a:rPr lang="en-US" sz="2400" b="1" dirty="0">
                <a:latin typeface="Aparajita" panose="02020603050405020304" pitchFamily="18" charset="0"/>
                <a:cs typeface="Aparajita" panose="02020603050405020304" pitchFamily="18" charset="0"/>
              </a:rPr>
              <a:t>Security and Data Privacy Concerns</a:t>
            </a:r>
            <a:r>
              <a:rPr lang="en-US" sz="2400" dirty="0">
                <a:latin typeface="Aparajita" panose="02020603050405020304" pitchFamily="18" charset="0"/>
                <a:cs typeface="Aparajita" panose="02020603050405020304" pitchFamily="18" charset="0"/>
              </a:rPr>
              <a:t>: Storing employee information in physical files or scattered spreadsheets can lead to security risks and potential data breaches. </a:t>
            </a:r>
          </a:p>
          <a:p>
            <a:endParaRPr lang="en-US" sz="2400" dirty="0">
              <a:latin typeface="Aparajita" panose="02020603050405020304" pitchFamily="18" charset="0"/>
              <a:cs typeface="Aparajita" panose="02020603050405020304" pitchFamily="18" charset="0"/>
            </a:endParaRPr>
          </a:p>
          <a:p>
            <a:endParaRPr lang="en-US" sz="2400" dirty="0">
              <a:latin typeface="Aparajita" panose="02020603050405020304" pitchFamily="18" charset="0"/>
              <a:cs typeface="Aparajita" panose="02020603050405020304" pitchFamily="18" charset="0"/>
            </a:endParaRPr>
          </a:p>
          <a:p>
            <a:pPr marL="0" indent="0">
              <a:buNone/>
            </a:pPr>
            <a:endParaRPr lang="en-US" dirty="0"/>
          </a:p>
        </p:txBody>
      </p:sp>
    </p:spTree>
    <p:extLst>
      <p:ext uri="{BB962C8B-B14F-4D97-AF65-F5344CB8AC3E}">
        <p14:creationId xmlns:p14="http://schemas.microsoft.com/office/powerpoint/2010/main" val="33743959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07BF7-BF37-E277-5822-3898F4B23299}"/>
              </a:ext>
            </a:extLst>
          </p:cNvPr>
          <p:cNvSpPr>
            <a:spLocks noGrp="1"/>
          </p:cNvSpPr>
          <p:nvPr>
            <p:ph type="title"/>
          </p:nvPr>
        </p:nvSpPr>
        <p:spPr/>
        <p:txBody>
          <a:bodyPr>
            <a:normAutofit/>
          </a:bodyPr>
          <a:lstStyle/>
          <a:p>
            <a:pPr algn="ctr"/>
            <a:r>
              <a:rPr lang="en-US" sz="4800" b="1" dirty="0">
                <a:solidFill>
                  <a:schemeClr val="tx1"/>
                </a:solidFill>
                <a:latin typeface="Aparajita" panose="02020603050405020304" pitchFamily="18" charset="0"/>
                <a:cs typeface="Aparajita" panose="02020603050405020304" pitchFamily="18" charset="0"/>
              </a:rPr>
              <a:t>PROPOSED SYSTEM</a:t>
            </a:r>
          </a:p>
        </p:txBody>
      </p:sp>
      <p:sp>
        <p:nvSpPr>
          <p:cNvPr id="3" name="Content Placeholder 2">
            <a:extLst>
              <a:ext uri="{FF2B5EF4-FFF2-40B4-BE49-F238E27FC236}">
                <a16:creationId xmlns:a16="http://schemas.microsoft.com/office/drawing/2014/main" id="{296FFDDE-4537-4D63-A1A9-3AB8A4CFDF3A}"/>
              </a:ext>
            </a:extLst>
          </p:cNvPr>
          <p:cNvSpPr>
            <a:spLocks noGrp="1"/>
          </p:cNvSpPr>
          <p:nvPr>
            <p:ph idx="1"/>
          </p:nvPr>
        </p:nvSpPr>
        <p:spPr>
          <a:xfrm>
            <a:off x="677333" y="1488613"/>
            <a:ext cx="9036509" cy="4991700"/>
          </a:xfrm>
        </p:spPr>
        <p:txBody>
          <a:bodyPr>
            <a:normAutofit/>
          </a:bodyPr>
          <a:lstStyle/>
          <a:p>
            <a:pPr lvl="0">
              <a:lnSpc>
                <a:spcPct val="107000"/>
              </a:lnSpc>
              <a:spcBef>
                <a:spcPts val="0"/>
              </a:spcBef>
              <a:buFont typeface="Wingdings" panose="05000000000000000000" pitchFamily="2" charset="2"/>
              <a:buChar char=""/>
            </a:pPr>
            <a:r>
              <a:rPr lang="en-US" sz="2400" b="1" kern="100" dirty="0">
                <a:latin typeface="Aparajita" panose="02020603050405020304" pitchFamily="18" charset="0"/>
                <a:ea typeface="Calibri" panose="020F0502020204030204" pitchFamily="34" charset="0"/>
                <a:cs typeface="Aparajita" panose="02020603050405020304" pitchFamily="18" charset="0"/>
              </a:rPr>
              <a:t>Centralized Employee Database</a:t>
            </a:r>
            <a:r>
              <a:rPr lang="en-US" sz="2400" kern="100" dirty="0">
                <a:latin typeface="Aparajita" panose="02020603050405020304" pitchFamily="18" charset="0"/>
                <a:ea typeface="Calibri" panose="020F0502020204030204" pitchFamily="34" charset="0"/>
                <a:cs typeface="Aparajita" panose="02020603050405020304" pitchFamily="18" charset="0"/>
              </a:rPr>
              <a:t>: The system will have a centralized database to store and manage employee information, including personal details, employment history, skills, qualifications, and performance records. It will ensure data integrity, reduce duplication, and enable easy access and updates.</a:t>
            </a:r>
          </a:p>
          <a:p>
            <a:pPr lvl="0">
              <a:lnSpc>
                <a:spcPct val="107000"/>
              </a:lnSpc>
              <a:spcBef>
                <a:spcPts val="0"/>
              </a:spcBef>
              <a:buFont typeface="Wingdings" panose="05000000000000000000" pitchFamily="2" charset="2"/>
              <a:buChar char=""/>
            </a:pPr>
            <a:r>
              <a:rPr lang="en-US" sz="2400" b="1" kern="100" dirty="0">
                <a:latin typeface="Aparajita" panose="02020603050405020304" pitchFamily="18" charset="0"/>
                <a:ea typeface="Calibri" panose="020F0502020204030204" pitchFamily="34" charset="0"/>
                <a:cs typeface="Aparajita" panose="02020603050405020304" pitchFamily="18" charset="0"/>
              </a:rPr>
              <a:t>User-Friendly Interface</a:t>
            </a:r>
            <a:r>
              <a:rPr lang="en-US" sz="2400" kern="100" dirty="0">
                <a:latin typeface="Aparajita" panose="02020603050405020304" pitchFamily="18" charset="0"/>
                <a:ea typeface="Calibri" panose="020F0502020204030204" pitchFamily="34" charset="0"/>
                <a:cs typeface="Aparajita" panose="02020603050405020304" pitchFamily="18" charset="0"/>
              </a:rPr>
              <a:t>: The system will have an intuitive and user-friendly interface accessible to HR personnel, managers, and employees. It will provide role-based access, allowing users to view and update relevant information while maintaining data privacy and security.</a:t>
            </a:r>
          </a:p>
          <a:p>
            <a:pPr marL="0" lvl="0" indent="0">
              <a:lnSpc>
                <a:spcPct val="107000"/>
              </a:lnSpc>
              <a:spcBef>
                <a:spcPts val="0"/>
              </a:spcBef>
              <a:buNone/>
            </a:pPr>
            <a:r>
              <a:rPr lang="en-US" sz="2400" kern="100" dirty="0">
                <a:latin typeface="Aparajita" panose="02020603050405020304" pitchFamily="18" charset="0"/>
                <a:ea typeface="Calibri" panose="020F0502020204030204" pitchFamily="34" charset="0"/>
                <a:cs typeface="Aparajita" panose="02020603050405020304" pitchFamily="18" charset="0"/>
              </a:rPr>
              <a:t>By implementing the proposed Employee Management System, organizations will benefit from increased efficiency, improved data accuracy, streamlined processes, enhanced communication, and better employee engagement. </a:t>
            </a:r>
          </a:p>
          <a:p>
            <a:pPr lvl="0">
              <a:lnSpc>
                <a:spcPct val="107000"/>
              </a:lnSpc>
              <a:spcBef>
                <a:spcPts val="0"/>
              </a:spcBef>
              <a:buFont typeface="Wingdings" panose="05000000000000000000" pitchFamily="2" charset="2"/>
              <a:buChar char=""/>
            </a:pPr>
            <a:endParaRPr lang="en-US" sz="3400" kern="100" dirty="0">
              <a:latin typeface="Aparajita" panose="02020603050405020304" pitchFamily="18" charset="0"/>
              <a:ea typeface="Calibri" panose="020F0502020204030204" pitchFamily="34" charset="0"/>
              <a:cs typeface="Aparajita" panose="02020603050405020304" pitchFamily="18" charset="0"/>
            </a:endParaRPr>
          </a:p>
          <a:p>
            <a:pPr marL="114300" marR="0" indent="0">
              <a:lnSpc>
                <a:spcPct val="107000"/>
              </a:lnSpc>
              <a:spcBef>
                <a:spcPts val="0"/>
              </a:spcBef>
              <a:spcAft>
                <a:spcPts val="800"/>
              </a:spcAft>
              <a:buNone/>
            </a:pPr>
            <a:endParaRPr lang="en-US" sz="2000" kern="100" dirty="0">
              <a:latin typeface="Calibri" panose="020F0502020204030204" pitchFamily="34" charset="0"/>
              <a:ea typeface="Calibri" panose="020F0502020204030204" pitchFamily="34" charset="0"/>
              <a:cs typeface="Mangal" panose="02040503050203030202" pitchFamily="18" charset="0"/>
            </a:endParaRPr>
          </a:p>
          <a:p>
            <a:pPr marL="0" indent="0">
              <a:buNone/>
            </a:pPr>
            <a:endParaRPr lang="en-US" dirty="0"/>
          </a:p>
        </p:txBody>
      </p:sp>
    </p:spTree>
    <p:extLst>
      <p:ext uri="{BB962C8B-B14F-4D97-AF65-F5344CB8AC3E}">
        <p14:creationId xmlns:p14="http://schemas.microsoft.com/office/powerpoint/2010/main" val="2325632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A9B7A-135C-995F-5D35-9A208B8B3A70}"/>
              </a:ext>
            </a:extLst>
          </p:cNvPr>
          <p:cNvSpPr>
            <a:spLocks noGrp="1"/>
          </p:cNvSpPr>
          <p:nvPr>
            <p:ph type="title"/>
          </p:nvPr>
        </p:nvSpPr>
        <p:spPr/>
        <p:txBody>
          <a:bodyPr>
            <a:normAutofit/>
          </a:bodyPr>
          <a:lstStyle/>
          <a:p>
            <a:pPr algn="ctr"/>
            <a:r>
              <a:rPr lang="en-US" sz="4800" b="1" dirty="0">
                <a:solidFill>
                  <a:schemeClr val="tx1"/>
                </a:solidFill>
                <a:latin typeface="Aparajita" panose="02020603050405020304" pitchFamily="18" charset="0"/>
                <a:cs typeface="Aparajita" panose="02020603050405020304" pitchFamily="18" charset="0"/>
              </a:rPr>
              <a:t>MODULES</a:t>
            </a:r>
          </a:p>
        </p:txBody>
      </p:sp>
      <p:sp>
        <p:nvSpPr>
          <p:cNvPr id="3" name="Content Placeholder 2">
            <a:extLst>
              <a:ext uri="{FF2B5EF4-FFF2-40B4-BE49-F238E27FC236}">
                <a16:creationId xmlns:a16="http://schemas.microsoft.com/office/drawing/2014/main" id="{81364F39-3927-3F4F-ABF1-449814174315}"/>
              </a:ext>
            </a:extLst>
          </p:cNvPr>
          <p:cNvSpPr>
            <a:spLocks noGrp="1"/>
          </p:cNvSpPr>
          <p:nvPr>
            <p:ph idx="1"/>
          </p:nvPr>
        </p:nvSpPr>
        <p:spPr>
          <a:xfrm>
            <a:off x="677334" y="1391479"/>
            <a:ext cx="8596668" cy="4649884"/>
          </a:xfrm>
        </p:spPr>
        <p:txBody>
          <a:bodyPr>
            <a:normAutofit lnSpcReduction="10000"/>
          </a:bodyPr>
          <a:lstStyle/>
          <a:p>
            <a:pPr marL="0" indent="0">
              <a:buNone/>
            </a:pPr>
            <a:r>
              <a:rPr lang="en-US" sz="2800" dirty="0">
                <a:latin typeface="Aparajita" panose="02020603050405020304" pitchFamily="18" charset="0"/>
                <a:cs typeface="Aparajita" panose="02020603050405020304" pitchFamily="18" charset="0"/>
              </a:rPr>
              <a:t>Multiple user access: Allows multiple type users teachers/student/admin) to login</a:t>
            </a:r>
          </a:p>
          <a:p>
            <a:r>
              <a:rPr lang="en-US" sz="2800" dirty="0">
                <a:latin typeface="Aparajita" panose="02020603050405020304" pitchFamily="18" charset="0"/>
                <a:cs typeface="Aparajita" panose="02020603050405020304" pitchFamily="18" charset="0"/>
              </a:rPr>
              <a:t>Functional Admin panel:  Allows admins to manage the whole system</a:t>
            </a:r>
          </a:p>
          <a:p>
            <a:r>
              <a:rPr lang="en-US" sz="2800" dirty="0">
                <a:latin typeface="Aparajita" panose="02020603050405020304" pitchFamily="18" charset="0"/>
                <a:cs typeface="Aparajita" panose="02020603050405020304" pitchFamily="18" charset="0"/>
              </a:rPr>
              <a:t>CRUD functionalities:  Allows admin to create, read, update and delete their employee data in a managed format </a:t>
            </a:r>
          </a:p>
          <a:p>
            <a:r>
              <a:rPr lang="en-US" sz="2800" dirty="0">
                <a:latin typeface="Aparajita" panose="02020603050405020304" pitchFamily="18" charset="0"/>
                <a:cs typeface="Aparajita" panose="02020603050405020304" pitchFamily="18" charset="0"/>
              </a:rPr>
              <a:t>Profile update option:  Allows admin to update their employee account details  </a:t>
            </a:r>
          </a:p>
          <a:p>
            <a:r>
              <a:rPr lang="en-US" sz="2800" dirty="0">
                <a:latin typeface="Aparajita" panose="02020603050405020304" pitchFamily="18" charset="0"/>
                <a:cs typeface="Aparajita" panose="02020603050405020304" pitchFamily="18" charset="0"/>
              </a:rPr>
              <a:t>Secure registration and login option for admin</a:t>
            </a:r>
          </a:p>
          <a:p>
            <a:r>
              <a:rPr lang="en-US" sz="2800" dirty="0">
                <a:latin typeface="Aparajita" panose="02020603050405020304" pitchFamily="18" charset="0"/>
                <a:cs typeface="Aparajita" panose="02020603050405020304" pitchFamily="18" charset="0"/>
              </a:rPr>
              <a:t>Allows admin to search, update, print, view their employees’ details easily.</a:t>
            </a:r>
          </a:p>
          <a:p>
            <a:pPr marL="0" indent="0">
              <a:buNone/>
            </a:pPr>
            <a:endParaRPr lang="en-US" dirty="0"/>
          </a:p>
        </p:txBody>
      </p:sp>
    </p:spTree>
    <p:extLst>
      <p:ext uri="{BB962C8B-B14F-4D97-AF65-F5344CB8AC3E}">
        <p14:creationId xmlns:p14="http://schemas.microsoft.com/office/powerpoint/2010/main" val="32370772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19E6-889E-FB45-4AB9-4A340B0126CE}"/>
              </a:ext>
            </a:extLst>
          </p:cNvPr>
          <p:cNvSpPr>
            <a:spLocks noGrp="1"/>
          </p:cNvSpPr>
          <p:nvPr>
            <p:ph type="title"/>
          </p:nvPr>
        </p:nvSpPr>
        <p:spPr/>
        <p:txBody>
          <a:bodyPr>
            <a:normAutofit/>
          </a:bodyPr>
          <a:lstStyle/>
          <a:p>
            <a:pPr algn="ctr"/>
            <a:r>
              <a:rPr lang="en-US" sz="4800" b="1" dirty="0">
                <a:solidFill>
                  <a:schemeClr val="tx1"/>
                </a:solidFill>
                <a:latin typeface="Aparajita" panose="02020603050405020304" pitchFamily="18" charset="0"/>
                <a:cs typeface="Aparajita" panose="02020603050405020304" pitchFamily="18" charset="0"/>
              </a:rPr>
              <a:t>HARDWARE REQUIREMENT</a:t>
            </a:r>
          </a:p>
        </p:txBody>
      </p:sp>
      <p:sp>
        <p:nvSpPr>
          <p:cNvPr id="3" name="Content Placeholder 2">
            <a:extLst>
              <a:ext uri="{FF2B5EF4-FFF2-40B4-BE49-F238E27FC236}">
                <a16:creationId xmlns:a16="http://schemas.microsoft.com/office/drawing/2014/main" id="{1CB910F9-1274-0ED7-682B-F73724875026}"/>
              </a:ext>
            </a:extLst>
          </p:cNvPr>
          <p:cNvSpPr>
            <a:spLocks noGrp="1"/>
          </p:cNvSpPr>
          <p:nvPr>
            <p:ph idx="1"/>
          </p:nvPr>
        </p:nvSpPr>
        <p:spPr>
          <a:xfrm>
            <a:off x="677334" y="1930400"/>
            <a:ext cx="8596668" cy="3602478"/>
          </a:xfrm>
        </p:spPr>
        <p:txBody>
          <a:bodyPr/>
          <a:lstStyle/>
          <a:p>
            <a:pPr lvl="0">
              <a:lnSpc>
                <a:spcPct val="107000"/>
              </a:lnSpc>
              <a:spcBef>
                <a:spcPts val="0"/>
              </a:spcBef>
              <a:buFont typeface="Wingdings" panose="05000000000000000000" pitchFamily="2" charset="2"/>
              <a:buChar char=""/>
            </a:pPr>
            <a:r>
              <a:rPr lang="en-US" sz="2400" b="1" kern="100" dirty="0">
                <a:latin typeface="Aparajita" panose="02020603050405020304" pitchFamily="18" charset="0"/>
                <a:ea typeface="Calibri" panose="020F0502020204030204" pitchFamily="34" charset="0"/>
                <a:cs typeface="Aparajita" panose="02020603050405020304" pitchFamily="18" charset="0"/>
              </a:rPr>
              <a:t>Processor</a:t>
            </a:r>
            <a:r>
              <a:rPr lang="en-US" sz="2400" kern="100" dirty="0">
                <a:latin typeface="Aparajita" panose="02020603050405020304" pitchFamily="18" charset="0"/>
                <a:ea typeface="Calibri" panose="020F0502020204030204" pitchFamily="34" charset="0"/>
                <a:cs typeface="Aparajita" panose="02020603050405020304" pitchFamily="18" charset="0"/>
              </a:rPr>
              <a:t>: Intel I3 2.8 GHz Processor and Above</a:t>
            </a:r>
          </a:p>
          <a:p>
            <a:pPr lvl="0">
              <a:lnSpc>
                <a:spcPct val="107000"/>
              </a:lnSpc>
              <a:spcBef>
                <a:spcPts val="0"/>
              </a:spcBef>
              <a:buFont typeface="Wingdings" panose="05000000000000000000" pitchFamily="2" charset="2"/>
              <a:buChar char=""/>
            </a:pPr>
            <a:r>
              <a:rPr lang="en-US" sz="2400" b="1" kern="100" dirty="0">
                <a:latin typeface="Aparajita" panose="02020603050405020304" pitchFamily="18" charset="0"/>
                <a:ea typeface="Calibri" panose="020F0502020204030204" pitchFamily="34" charset="0"/>
                <a:cs typeface="Aparajita" panose="02020603050405020304" pitchFamily="18" charset="0"/>
              </a:rPr>
              <a:t>RAM</a:t>
            </a:r>
            <a:r>
              <a:rPr lang="en-US" sz="2400" kern="100" dirty="0">
                <a:latin typeface="Aparajita" panose="02020603050405020304" pitchFamily="18" charset="0"/>
                <a:ea typeface="Calibri" panose="020F0502020204030204" pitchFamily="34" charset="0"/>
                <a:cs typeface="Aparajita" panose="02020603050405020304" pitchFamily="18" charset="0"/>
              </a:rPr>
              <a:t> 4 GB and Above</a:t>
            </a:r>
          </a:p>
          <a:p>
            <a:pPr lvl="0">
              <a:lnSpc>
                <a:spcPct val="107000"/>
              </a:lnSpc>
              <a:spcBef>
                <a:spcPts val="0"/>
              </a:spcBef>
              <a:buFont typeface="Wingdings" panose="05000000000000000000" pitchFamily="2" charset="2"/>
              <a:buChar char=""/>
            </a:pPr>
            <a:r>
              <a:rPr lang="en-US" sz="2400" b="1" kern="100" dirty="0">
                <a:latin typeface="Aparajita" panose="02020603050405020304" pitchFamily="18" charset="0"/>
                <a:ea typeface="Calibri" panose="020F0502020204030204" pitchFamily="34" charset="0"/>
                <a:cs typeface="Aparajita" panose="02020603050405020304" pitchFamily="18" charset="0"/>
              </a:rPr>
              <a:t>Operative Memory </a:t>
            </a:r>
            <a:r>
              <a:rPr lang="en-US" sz="2400" kern="100" dirty="0">
                <a:latin typeface="Aparajita" panose="02020603050405020304" pitchFamily="18" charset="0"/>
                <a:ea typeface="Calibri" panose="020F0502020204030204" pitchFamily="34" charset="0"/>
                <a:cs typeface="Aparajita" panose="02020603050405020304" pitchFamily="18" charset="0"/>
              </a:rPr>
              <a:t>required for the software  MB</a:t>
            </a:r>
          </a:p>
          <a:p>
            <a:pPr lvl="0">
              <a:lnSpc>
                <a:spcPct val="107000"/>
              </a:lnSpc>
              <a:spcBef>
                <a:spcPts val="0"/>
              </a:spcBef>
              <a:buFont typeface="Wingdings" panose="05000000000000000000" pitchFamily="2" charset="2"/>
              <a:buChar char=""/>
            </a:pPr>
            <a:r>
              <a:rPr lang="en-US" sz="2400" b="1" kern="100" dirty="0">
                <a:latin typeface="Aparajita" panose="02020603050405020304" pitchFamily="18" charset="0"/>
                <a:ea typeface="Calibri" panose="020F0502020204030204" pitchFamily="34" charset="0"/>
                <a:cs typeface="Aparajita" panose="02020603050405020304" pitchFamily="18" charset="0"/>
              </a:rPr>
              <a:t>500 MB </a:t>
            </a:r>
            <a:r>
              <a:rPr lang="en-US" sz="2400" kern="100" dirty="0">
                <a:latin typeface="Aparajita" panose="02020603050405020304" pitchFamily="18" charset="0"/>
                <a:ea typeface="Calibri" panose="020F0502020204030204" pitchFamily="34" charset="0"/>
                <a:cs typeface="Aparajita" panose="02020603050405020304" pitchFamily="18" charset="0"/>
              </a:rPr>
              <a:t>of free disk space for Eclipse installation</a:t>
            </a:r>
          </a:p>
          <a:p>
            <a:pPr lvl="0">
              <a:lnSpc>
                <a:spcPct val="107000"/>
              </a:lnSpc>
              <a:spcBef>
                <a:spcPts val="0"/>
              </a:spcBef>
              <a:spcAft>
                <a:spcPts val="800"/>
              </a:spcAft>
              <a:buFont typeface="Wingdings" panose="05000000000000000000" pitchFamily="2" charset="2"/>
              <a:buChar char=""/>
            </a:pPr>
            <a:r>
              <a:rPr lang="en-US" sz="2400" b="1" kern="100" dirty="0">
                <a:latin typeface="Aparajita" panose="02020603050405020304" pitchFamily="18" charset="0"/>
                <a:ea typeface="Calibri" panose="020F0502020204030204" pitchFamily="34" charset="0"/>
                <a:cs typeface="Aparajita" panose="02020603050405020304" pitchFamily="18" charset="0"/>
              </a:rPr>
              <a:t>Additional disk space </a:t>
            </a:r>
            <a:r>
              <a:rPr lang="en-US" sz="2400" kern="100" dirty="0">
                <a:latin typeface="Aparajita" panose="02020603050405020304" pitchFamily="18" charset="0"/>
                <a:ea typeface="Calibri" panose="020F0502020204030204" pitchFamily="34" charset="0"/>
                <a:cs typeface="Aparajita" panose="02020603050405020304" pitchFamily="18" charset="0"/>
              </a:rPr>
              <a:t>for your projects and any additional plugins or extensions</a:t>
            </a:r>
          </a:p>
          <a:p>
            <a:pPr marL="0" indent="0">
              <a:buNone/>
            </a:pPr>
            <a:endParaRPr lang="en-US" dirty="0"/>
          </a:p>
        </p:txBody>
      </p:sp>
    </p:spTree>
    <p:extLst>
      <p:ext uri="{BB962C8B-B14F-4D97-AF65-F5344CB8AC3E}">
        <p14:creationId xmlns:p14="http://schemas.microsoft.com/office/powerpoint/2010/main" val="33008672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C8B6E-9A2F-CBD0-FA0C-99A2AEA17A9C}"/>
              </a:ext>
            </a:extLst>
          </p:cNvPr>
          <p:cNvSpPr>
            <a:spLocks noGrp="1"/>
          </p:cNvSpPr>
          <p:nvPr>
            <p:ph type="title"/>
          </p:nvPr>
        </p:nvSpPr>
        <p:spPr>
          <a:xfrm>
            <a:off x="677334" y="609600"/>
            <a:ext cx="8596668" cy="1320800"/>
          </a:xfrm>
        </p:spPr>
        <p:txBody>
          <a:bodyPr>
            <a:normAutofit/>
          </a:bodyPr>
          <a:lstStyle/>
          <a:p>
            <a:pPr algn="ctr"/>
            <a:r>
              <a:rPr lang="en-US" sz="4800" b="1" dirty="0">
                <a:solidFill>
                  <a:schemeClr val="tx1"/>
                </a:solidFill>
                <a:latin typeface="Aparajita" panose="02020603050405020304" pitchFamily="18" charset="0"/>
                <a:cs typeface="Aparajita" panose="02020603050405020304" pitchFamily="18" charset="0"/>
              </a:rPr>
              <a:t>SOFTWARE REQUIREMENT</a:t>
            </a:r>
          </a:p>
        </p:txBody>
      </p:sp>
      <p:sp>
        <p:nvSpPr>
          <p:cNvPr id="3" name="Content Placeholder 2">
            <a:extLst>
              <a:ext uri="{FF2B5EF4-FFF2-40B4-BE49-F238E27FC236}">
                <a16:creationId xmlns:a16="http://schemas.microsoft.com/office/drawing/2014/main" id="{EF30D2CE-90C8-5709-EB91-513DE8EFBD09}"/>
              </a:ext>
            </a:extLst>
          </p:cNvPr>
          <p:cNvSpPr>
            <a:spLocks noGrp="1"/>
          </p:cNvSpPr>
          <p:nvPr>
            <p:ph idx="1"/>
          </p:nvPr>
        </p:nvSpPr>
        <p:spPr>
          <a:xfrm>
            <a:off x="677334" y="1696279"/>
            <a:ext cx="8596668" cy="4345084"/>
          </a:xfrm>
        </p:spPr>
        <p:txBody>
          <a:bodyPr>
            <a:normAutofit/>
          </a:bodyPr>
          <a:lstStyle/>
          <a:p>
            <a:pPr lvl="0">
              <a:lnSpc>
                <a:spcPct val="107000"/>
              </a:lnSpc>
              <a:spcBef>
                <a:spcPts val="0"/>
              </a:spcBef>
              <a:spcAft>
                <a:spcPts val="800"/>
              </a:spcAft>
              <a:buFont typeface="Wingdings" panose="05000000000000000000" pitchFamily="2" charset="2"/>
              <a:buChar char=""/>
            </a:pPr>
            <a:r>
              <a:rPr lang="en-US" sz="2400" b="1" kern="100" dirty="0">
                <a:latin typeface="Aparajita" panose="02020603050405020304" pitchFamily="18" charset="0"/>
                <a:ea typeface="Calibri" panose="020F0502020204030204" pitchFamily="34" charset="0"/>
                <a:cs typeface="Aparajita" panose="02020603050405020304" pitchFamily="18" charset="0"/>
              </a:rPr>
              <a:t>Operating System</a:t>
            </a:r>
            <a:r>
              <a:rPr lang="en-US" sz="2400" kern="100" dirty="0">
                <a:latin typeface="Aparajita" panose="02020603050405020304" pitchFamily="18" charset="0"/>
                <a:ea typeface="Calibri" panose="020F0502020204030204" pitchFamily="34" charset="0"/>
                <a:cs typeface="Aparajita" panose="02020603050405020304" pitchFamily="18" charset="0"/>
              </a:rPr>
              <a:t>: WINDOWS OS (Windows 7, 8,10,11) Or Linux </a:t>
            </a:r>
          </a:p>
          <a:p>
            <a:pPr lvl="0">
              <a:lnSpc>
                <a:spcPct val="107000"/>
              </a:lnSpc>
              <a:spcBef>
                <a:spcPts val="0"/>
              </a:spcBef>
              <a:spcAft>
                <a:spcPts val="800"/>
              </a:spcAft>
              <a:buFont typeface="Wingdings" panose="05000000000000000000" pitchFamily="2" charset="2"/>
              <a:buChar char=""/>
            </a:pPr>
            <a:r>
              <a:rPr lang="en-US" sz="2400" b="1" kern="100" dirty="0">
                <a:latin typeface="Aparajita" panose="02020603050405020304" pitchFamily="18" charset="0"/>
                <a:ea typeface="Calibri" panose="020F0502020204030204" pitchFamily="34" charset="0"/>
                <a:cs typeface="Aparajita" panose="02020603050405020304" pitchFamily="18" charset="0"/>
              </a:rPr>
              <a:t>Frontend</a:t>
            </a:r>
            <a:r>
              <a:rPr lang="en-US" sz="2400" kern="100" dirty="0">
                <a:latin typeface="Aparajita" panose="02020603050405020304" pitchFamily="18" charset="0"/>
                <a:ea typeface="Calibri" panose="020F0502020204030204" pitchFamily="34" charset="0"/>
                <a:cs typeface="Aparajita" panose="02020603050405020304" pitchFamily="18" charset="0"/>
              </a:rPr>
              <a:t>: Java, Swing [Java Foundation Classes] [JFC] library and an extension of the Abstract Window Toolkit [AWT].</a:t>
            </a:r>
          </a:p>
          <a:p>
            <a:pPr lvl="0">
              <a:lnSpc>
                <a:spcPct val="107000"/>
              </a:lnSpc>
              <a:spcBef>
                <a:spcPts val="0"/>
              </a:spcBef>
              <a:spcAft>
                <a:spcPts val="800"/>
              </a:spcAft>
              <a:buFont typeface="Wingdings" panose="05000000000000000000" pitchFamily="2" charset="2"/>
              <a:buChar char=""/>
            </a:pPr>
            <a:r>
              <a:rPr lang="en-US" sz="2400" b="1" kern="100" dirty="0">
                <a:latin typeface="Aparajita" panose="02020603050405020304" pitchFamily="18" charset="0"/>
                <a:ea typeface="Calibri" panose="020F0502020204030204" pitchFamily="34" charset="0"/>
                <a:cs typeface="Aparajita" panose="02020603050405020304" pitchFamily="18" charset="0"/>
              </a:rPr>
              <a:t>Backend</a:t>
            </a:r>
            <a:r>
              <a:rPr lang="en-US" sz="2400" kern="100" dirty="0">
                <a:latin typeface="Aparajita" panose="02020603050405020304" pitchFamily="18" charset="0"/>
                <a:ea typeface="Calibri" panose="020F0502020204030204" pitchFamily="34" charset="0"/>
                <a:cs typeface="Aparajita" panose="02020603050405020304" pitchFamily="18" charset="0"/>
              </a:rPr>
              <a:t>: MySQL, JDBC[For Database Connectivity]. </a:t>
            </a:r>
          </a:p>
          <a:p>
            <a:pPr lvl="0">
              <a:lnSpc>
                <a:spcPct val="107000"/>
              </a:lnSpc>
              <a:spcBef>
                <a:spcPts val="0"/>
              </a:spcBef>
              <a:spcAft>
                <a:spcPts val="800"/>
              </a:spcAft>
              <a:buFont typeface="Wingdings" panose="05000000000000000000" pitchFamily="2" charset="2"/>
              <a:buChar char=""/>
            </a:pPr>
            <a:r>
              <a:rPr lang="en-US" sz="2400" b="1" kern="100" dirty="0">
                <a:latin typeface="Aparajita" panose="02020603050405020304" pitchFamily="18" charset="0"/>
                <a:ea typeface="Calibri" panose="020F0502020204030204" pitchFamily="34" charset="0"/>
                <a:cs typeface="Aparajita" panose="02020603050405020304" pitchFamily="18" charset="0"/>
              </a:rPr>
              <a:t>Integrated Development Environment (IDE</a:t>
            </a:r>
            <a:r>
              <a:rPr lang="en-US" sz="2400" kern="100" dirty="0">
                <a:latin typeface="Aparajita" panose="02020603050405020304" pitchFamily="18" charset="0"/>
                <a:ea typeface="Calibri" panose="020F0502020204030204" pitchFamily="34" charset="0"/>
                <a:cs typeface="Aparajita" panose="02020603050405020304" pitchFamily="18" charset="0"/>
              </a:rPr>
              <a:t>): for Java development include Eclipse, IntelliJ IDEA, and NetBeans.</a:t>
            </a:r>
          </a:p>
          <a:p>
            <a:pPr marL="0" marR="0" indent="0">
              <a:lnSpc>
                <a:spcPct val="107000"/>
              </a:lnSpc>
              <a:spcBef>
                <a:spcPts val="0"/>
              </a:spcBef>
              <a:spcAft>
                <a:spcPts val="800"/>
              </a:spcAft>
              <a:buNone/>
            </a:pPr>
            <a:endParaRPr lang="en-US" kern="100" dirty="0">
              <a:latin typeface="Calibri" panose="020F0502020204030204" pitchFamily="34" charset="0"/>
              <a:ea typeface="Calibri" panose="020F0502020204030204" pitchFamily="34" charset="0"/>
              <a:cs typeface="Mangal" panose="02040503050203030202" pitchFamily="18" charset="0"/>
            </a:endParaRPr>
          </a:p>
          <a:p>
            <a:endParaRPr lang="en-US" dirty="0"/>
          </a:p>
        </p:txBody>
      </p:sp>
    </p:spTree>
    <p:extLst>
      <p:ext uri="{BB962C8B-B14F-4D97-AF65-F5344CB8AC3E}">
        <p14:creationId xmlns:p14="http://schemas.microsoft.com/office/powerpoint/2010/main" val="309795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A56C8-8C4E-93FC-C242-43A452F3991C}"/>
              </a:ext>
            </a:extLst>
          </p:cNvPr>
          <p:cNvSpPr>
            <a:spLocks noGrp="1"/>
          </p:cNvSpPr>
          <p:nvPr>
            <p:ph type="title"/>
          </p:nvPr>
        </p:nvSpPr>
        <p:spPr>
          <a:xfrm>
            <a:off x="1074900" y="6347791"/>
            <a:ext cx="8596668" cy="437322"/>
          </a:xfrm>
        </p:spPr>
        <p:txBody>
          <a:bodyPr>
            <a:normAutofit fontScale="90000"/>
          </a:bodyPr>
          <a:lstStyle/>
          <a:p>
            <a:pPr algn="ctr"/>
            <a:r>
              <a:rPr lang="en-US" b="1" dirty="0">
                <a:solidFill>
                  <a:srgbClr val="002060"/>
                </a:solidFill>
                <a:latin typeface="Aparajita" panose="02020603050405020304" pitchFamily="18" charset="0"/>
                <a:cs typeface="Aparajita" panose="02020603050405020304" pitchFamily="18" charset="0"/>
              </a:rPr>
              <a:t>ER-DIAGRAM</a:t>
            </a:r>
          </a:p>
        </p:txBody>
      </p:sp>
      <p:pic>
        <p:nvPicPr>
          <p:cNvPr id="7" name="Content Placeholder 6">
            <a:extLst>
              <a:ext uri="{FF2B5EF4-FFF2-40B4-BE49-F238E27FC236}">
                <a16:creationId xmlns:a16="http://schemas.microsoft.com/office/drawing/2014/main" id="{CF21AD20-AF7F-4A71-879B-2E58321A0F5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6600" y="457200"/>
            <a:ext cx="8348133" cy="5816600"/>
          </a:xfrm>
        </p:spPr>
      </p:pic>
    </p:spTree>
    <p:extLst>
      <p:ext uri="{BB962C8B-B14F-4D97-AF65-F5344CB8AC3E}">
        <p14:creationId xmlns:p14="http://schemas.microsoft.com/office/powerpoint/2010/main" val="2550217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BAAF6-A039-E6C4-D947-F8F8331BD05B}"/>
              </a:ext>
            </a:extLst>
          </p:cNvPr>
          <p:cNvSpPr>
            <a:spLocks noGrp="1"/>
          </p:cNvSpPr>
          <p:nvPr>
            <p:ph type="title"/>
          </p:nvPr>
        </p:nvSpPr>
        <p:spPr>
          <a:xfrm>
            <a:off x="641252" y="6089374"/>
            <a:ext cx="8596668" cy="397565"/>
          </a:xfrm>
        </p:spPr>
        <p:txBody>
          <a:bodyPr>
            <a:normAutofit fontScale="90000"/>
          </a:bodyPr>
          <a:lstStyle/>
          <a:p>
            <a:pPr algn="ctr"/>
            <a:r>
              <a:rPr lang="en-US" b="1" dirty="0">
                <a:solidFill>
                  <a:srgbClr val="002060"/>
                </a:solidFill>
                <a:latin typeface="Aparajita" panose="02020603050405020304" pitchFamily="18" charset="0"/>
                <a:cs typeface="Aparajita" panose="02020603050405020304" pitchFamily="18" charset="0"/>
              </a:rPr>
              <a:t>DFD LEVEL - 1</a:t>
            </a:r>
          </a:p>
        </p:txBody>
      </p:sp>
      <p:pic>
        <p:nvPicPr>
          <p:cNvPr id="7" name="Content Placeholder 6">
            <a:extLst>
              <a:ext uri="{FF2B5EF4-FFF2-40B4-BE49-F238E27FC236}">
                <a16:creationId xmlns:a16="http://schemas.microsoft.com/office/drawing/2014/main" id="{A410DA0F-0EF8-4AE7-9D06-E645F68B01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97527" y="976794"/>
            <a:ext cx="7629237" cy="4297169"/>
          </a:xfrm>
        </p:spPr>
      </p:pic>
    </p:spTree>
    <p:extLst>
      <p:ext uri="{BB962C8B-B14F-4D97-AF65-F5344CB8AC3E}">
        <p14:creationId xmlns:p14="http://schemas.microsoft.com/office/powerpoint/2010/main" val="30840956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35FD-1192-B7AF-53D6-B9EF41FDEA0C}"/>
              </a:ext>
            </a:extLst>
          </p:cNvPr>
          <p:cNvSpPr>
            <a:spLocks noGrp="1"/>
          </p:cNvSpPr>
          <p:nvPr>
            <p:ph type="title"/>
          </p:nvPr>
        </p:nvSpPr>
        <p:spPr>
          <a:xfrm>
            <a:off x="876117" y="6327913"/>
            <a:ext cx="8596668" cy="530087"/>
          </a:xfrm>
        </p:spPr>
        <p:txBody>
          <a:bodyPr>
            <a:normAutofit fontScale="90000"/>
          </a:bodyPr>
          <a:lstStyle/>
          <a:p>
            <a:pPr algn="ctr"/>
            <a:r>
              <a:rPr lang="en-US" b="1">
                <a:solidFill>
                  <a:srgbClr val="002060"/>
                </a:solidFill>
                <a:latin typeface="Aparajita" panose="02020603050405020304" pitchFamily="18" charset="0"/>
                <a:cs typeface="Aparajita" panose="02020603050405020304" pitchFamily="18" charset="0"/>
              </a:rPr>
              <a:t>ACTIVITY DIAGRAM</a:t>
            </a:r>
            <a:endParaRPr lang="en-US" b="1" dirty="0">
              <a:solidFill>
                <a:srgbClr val="002060"/>
              </a:solidFill>
              <a:latin typeface="Aparajita" panose="02020603050405020304" pitchFamily="18" charset="0"/>
              <a:cs typeface="Aparajita" panose="02020603050405020304" pitchFamily="18" charset="0"/>
            </a:endParaRPr>
          </a:p>
        </p:txBody>
      </p:sp>
      <p:pic>
        <p:nvPicPr>
          <p:cNvPr id="7" name="Content Placeholder 6">
            <a:extLst>
              <a:ext uri="{FF2B5EF4-FFF2-40B4-BE49-F238E27FC236}">
                <a16:creationId xmlns:a16="http://schemas.microsoft.com/office/drawing/2014/main" id="{82183BE8-E7DE-4B9A-A9AC-D14BF81110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51346" y="498764"/>
            <a:ext cx="7721600" cy="5440217"/>
          </a:xfrm>
        </p:spPr>
      </p:pic>
    </p:spTree>
    <p:extLst>
      <p:ext uri="{BB962C8B-B14F-4D97-AF65-F5344CB8AC3E}">
        <p14:creationId xmlns:p14="http://schemas.microsoft.com/office/powerpoint/2010/main" val="4277597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17FB2-EF3A-3909-E1AF-2000EC83AB45}"/>
              </a:ext>
            </a:extLst>
          </p:cNvPr>
          <p:cNvSpPr>
            <a:spLocks noGrp="1"/>
          </p:cNvSpPr>
          <p:nvPr>
            <p:ph type="title"/>
          </p:nvPr>
        </p:nvSpPr>
        <p:spPr>
          <a:xfrm>
            <a:off x="531560" y="6354417"/>
            <a:ext cx="8596668" cy="503583"/>
          </a:xfrm>
        </p:spPr>
        <p:txBody>
          <a:bodyPr>
            <a:normAutofit fontScale="90000"/>
          </a:bodyPr>
          <a:lstStyle/>
          <a:p>
            <a:pPr algn="ctr"/>
            <a:r>
              <a:rPr lang="en-US" b="1" dirty="0">
                <a:solidFill>
                  <a:srgbClr val="002060"/>
                </a:solidFill>
                <a:latin typeface="Aparajita" panose="02020603050405020304" pitchFamily="18" charset="0"/>
                <a:cs typeface="Aparajita" panose="02020603050405020304" pitchFamily="18" charset="0"/>
              </a:rPr>
              <a:t>CLASS DIAGRAM</a:t>
            </a:r>
          </a:p>
        </p:txBody>
      </p:sp>
      <p:pic>
        <p:nvPicPr>
          <p:cNvPr id="7" name="Content Placeholder 6">
            <a:extLst>
              <a:ext uri="{FF2B5EF4-FFF2-40B4-BE49-F238E27FC236}">
                <a16:creationId xmlns:a16="http://schemas.microsoft.com/office/drawing/2014/main" id="{F39E560A-8884-44D7-BA48-E4C2A23FCE2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82619" y="1038442"/>
            <a:ext cx="6345382" cy="4096976"/>
          </a:xfrm>
        </p:spPr>
      </p:pic>
    </p:spTree>
    <p:extLst>
      <p:ext uri="{BB962C8B-B14F-4D97-AF65-F5344CB8AC3E}">
        <p14:creationId xmlns:p14="http://schemas.microsoft.com/office/powerpoint/2010/main" val="1522288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06AC9-4953-5362-AE23-1AAD91B03F3E}"/>
              </a:ext>
            </a:extLst>
          </p:cNvPr>
          <p:cNvSpPr>
            <a:spLocks noGrp="1"/>
          </p:cNvSpPr>
          <p:nvPr>
            <p:ph type="title"/>
          </p:nvPr>
        </p:nvSpPr>
        <p:spPr>
          <a:xfrm>
            <a:off x="677334" y="6142383"/>
            <a:ext cx="8596668" cy="715617"/>
          </a:xfrm>
        </p:spPr>
        <p:txBody>
          <a:bodyPr>
            <a:normAutofit/>
          </a:bodyPr>
          <a:lstStyle/>
          <a:p>
            <a:pPr algn="ctr"/>
            <a:r>
              <a:rPr lang="en-US" b="1" dirty="0">
                <a:solidFill>
                  <a:srgbClr val="002060"/>
                </a:solidFill>
                <a:latin typeface="Aparajita" panose="02020603050405020304" pitchFamily="18" charset="0"/>
                <a:cs typeface="Aparajita" panose="02020603050405020304" pitchFamily="18" charset="0"/>
              </a:rPr>
              <a:t>DFD LEVEL - 0</a:t>
            </a:r>
          </a:p>
        </p:txBody>
      </p:sp>
      <p:pic>
        <p:nvPicPr>
          <p:cNvPr id="7" name="Content Placeholder 6">
            <a:extLst>
              <a:ext uri="{FF2B5EF4-FFF2-40B4-BE49-F238E27FC236}">
                <a16:creationId xmlns:a16="http://schemas.microsoft.com/office/drawing/2014/main" id="{8F5CB1D4-17B5-41AC-8D91-EC801A71E4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02327" y="784370"/>
            <a:ext cx="7703127" cy="4434176"/>
          </a:xfrm>
        </p:spPr>
      </p:pic>
    </p:spTree>
    <p:extLst>
      <p:ext uri="{BB962C8B-B14F-4D97-AF65-F5344CB8AC3E}">
        <p14:creationId xmlns:p14="http://schemas.microsoft.com/office/powerpoint/2010/main" val="1979809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22108-99A3-7A0D-CF22-9AAE3FE4F48B}"/>
              </a:ext>
            </a:extLst>
          </p:cNvPr>
          <p:cNvSpPr>
            <a:spLocks noGrp="1"/>
          </p:cNvSpPr>
          <p:nvPr>
            <p:ph type="title"/>
          </p:nvPr>
        </p:nvSpPr>
        <p:spPr>
          <a:xfrm>
            <a:off x="531560" y="6195391"/>
            <a:ext cx="8596668" cy="662609"/>
          </a:xfrm>
        </p:spPr>
        <p:txBody>
          <a:bodyPr>
            <a:normAutofit/>
          </a:bodyPr>
          <a:lstStyle/>
          <a:p>
            <a:pPr algn="ctr"/>
            <a:r>
              <a:rPr lang="en-US" b="1" dirty="0">
                <a:solidFill>
                  <a:srgbClr val="002060"/>
                </a:solidFill>
                <a:latin typeface="Aparajita" panose="02020603050405020304" pitchFamily="18" charset="0"/>
                <a:cs typeface="Aparajita" panose="02020603050405020304" pitchFamily="18" charset="0"/>
              </a:rPr>
              <a:t>SEQUENCE DIAGRAM</a:t>
            </a:r>
          </a:p>
        </p:txBody>
      </p:sp>
      <p:pic>
        <p:nvPicPr>
          <p:cNvPr id="7" name="Content Placeholder 6">
            <a:extLst>
              <a:ext uri="{FF2B5EF4-FFF2-40B4-BE49-F238E27FC236}">
                <a16:creationId xmlns:a16="http://schemas.microsoft.com/office/drawing/2014/main" id="{0D4AE9FA-5888-4A82-B83D-9BC53604EB8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64205" y="479569"/>
            <a:ext cx="8386618" cy="5228504"/>
          </a:xfrm>
        </p:spPr>
      </p:pic>
    </p:spTree>
    <p:extLst>
      <p:ext uri="{BB962C8B-B14F-4D97-AF65-F5344CB8AC3E}">
        <p14:creationId xmlns:p14="http://schemas.microsoft.com/office/powerpoint/2010/main" val="326629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5B9F5-8B17-6186-77B0-C3E8BDE98780}"/>
              </a:ext>
            </a:extLst>
          </p:cNvPr>
          <p:cNvSpPr>
            <a:spLocks noGrp="1"/>
          </p:cNvSpPr>
          <p:nvPr>
            <p:ph type="title"/>
          </p:nvPr>
        </p:nvSpPr>
        <p:spPr>
          <a:xfrm>
            <a:off x="677334" y="6208643"/>
            <a:ext cx="8596668" cy="649357"/>
          </a:xfrm>
        </p:spPr>
        <p:txBody>
          <a:bodyPr>
            <a:noAutofit/>
          </a:bodyPr>
          <a:lstStyle/>
          <a:p>
            <a:pPr algn="ctr"/>
            <a:r>
              <a:rPr lang="en-US" b="1" dirty="0">
                <a:solidFill>
                  <a:srgbClr val="002060"/>
                </a:solidFill>
                <a:latin typeface="Aparajita" panose="02020603050405020304" pitchFamily="18" charset="0"/>
                <a:cs typeface="Aparajita" panose="02020603050405020304" pitchFamily="18" charset="0"/>
              </a:rPr>
              <a:t>STATE CHART</a:t>
            </a:r>
          </a:p>
        </p:txBody>
      </p:sp>
      <p:pic>
        <p:nvPicPr>
          <p:cNvPr id="7" name="Content Placeholder 6">
            <a:extLst>
              <a:ext uri="{FF2B5EF4-FFF2-40B4-BE49-F238E27FC236}">
                <a16:creationId xmlns:a16="http://schemas.microsoft.com/office/drawing/2014/main" id="{88A822E7-3FA9-4A2E-A3E2-07611CD2ED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28437" y="1169627"/>
            <a:ext cx="7426036" cy="3679464"/>
          </a:xfrm>
        </p:spPr>
      </p:pic>
    </p:spTree>
    <p:extLst>
      <p:ext uri="{BB962C8B-B14F-4D97-AF65-F5344CB8AC3E}">
        <p14:creationId xmlns:p14="http://schemas.microsoft.com/office/powerpoint/2010/main" val="31655543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324BA-64D2-DB97-9FC9-756865EB6E08}"/>
              </a:ext>
            </a:extLst>
          </p:cNvPr>
          <p:cNvSpPr>
            <a:spLocks noGrp="1"/>
          </p:cNvSpPr>
          <p:nvPr>
            <p:ph type="title"/>
          </p:nvPr>
        </p:nvSpPr>
        <p:spPr>
          <a:xfrm>
            <a:off x="571316" y="6195391"/>
            <a:ext cx="8596668" cy="662609"/>
          </a:xfrm>
        </p:spPr>
        <p:txBody>
          <a:bodyPr>
            <a:normAutofit/>
          </a:bodyPr>
          <a:lstStyle/>
          <a:p>
            <a:pPr algn="ctr"/>
            <a:r>
              <a:rPr lang="en-US" b="1" dirty="0">
                <a:solidFill>
                  <a:srgbClr val="002060"/>
                </a:solidFill>
                <a:latin typeface="Aparajita" panose="02020603050405020304" pitchFamily="18" charset="0"/>
                <a:cs typeface="Aparajita" panose="02020603050405020304" pitchFamily="18" charset="0"/>
              </a:rPr>
              <a:t>USE-CASE DIAGRAM</a:t>
            </a:r>
          </a:p>
        </p:txBody>
      </p:sp>
      <p:pic>
        <p:nvPicPr>
          <p:cNvPr id="6" name="Content Placeholder 5">
            <a:extLst>
              <a:ext uri="{FF2B5EF4-FFF2-40B4-BE49-F238E27FC236}">
                <a16:creationId xmlns:a16="http://schemas.microsoft.com/office/drawing/2014/main" id="{6A824DB6-7321-4766-BA3D-10D07AAAA09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6365" y="775133"/>
            <a:ext cx="6337738" cy="4498830"/>
          </a:xfrm>
        </p:spPr>
      </p:pic>
    </p:spTree>
    <p:extLst>
      <p:ext uri="{BB962C8B-B14F-4D97-AF65-F5344CB8AC3E}">
        <p14:creationId xmlns:p14="http://schemas.microsoft.com/office/powerpoint/2010/main" val="16035977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240E2-3ABD-DA2B-C12A-735602A6E616}"/>
              </a:ext>
            </a:extLst>
          </p:cNvPr>
          <p:cNvSpPr>
            <a:spLocks noGrp="1"/>
          </p:cNvSpPr>
          <p:nvPr>
            <p:ph type="title"/>
          </p:nvPr>
        </p:nvSpPr>
        <p:spPr>
          <a:xfrm>
            <a:off x="531560" y="6221896"/>
            <a:ext cx="8596668" cy="636104"/>
          </a:xfrm>
        </p:spPr>
        <p:txBody>
          <a:bodyPr>
            <a:normAutofit fontScale="90000"/>
          </a:bodyPr>
          <a:lstStyle/>
          <a:p>
            <a:pPr algn="ctr"/>
            <a:r>
              <a:rPr lang="en-US" b="1" dirty="0">
                <a:solidFill>
                  <a:srgbClr val="002060"/>
                </a:solidFill>
                <a:latin typeface="Aparajita" panose="02020603050405020304" pitchFamily="18" charset="0"/>
                <a:cs typeface="Aparajita" panose="02020603050405020304" pitchFamily="18" charset="0"/>
              </a:rPr>
              <a:t>DFD LEVEL - 2</a:t>
            </a:r>
          </a:p>
        </p:txBody>
      </p:sp>
      <p:pic>
        <p:nvPicPr>
          <p:cNvPr id="6" name="Content Placeholder 5">
            <a:extLst>
              <a:ext uri="{FF2B5EF4-FFF2-40B4-BE49-F238E27FC236}">
                <a16:creationId xmlns:a16="http://schemas.microsoft.com/office/drawing/2014/main" id="{BBFEDD78-20C0-4C39-BB6B-F0B2A15E9C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42108" y="581169"/>
            <a:ext cx="8109527" cy="4932939"/>
          </a:xfrm>
        </p:spPr>
      </p:pic>
    </p:spTree>
    <p:extLst>
      <p:ext uri="{BB962C8B-B14F-4D97-AF65-F5344CB8AC3E}">
        <p14:creationId xmlns:p14="http://schemas.microsoft.com/office/powerpoint/2010/main" val="786205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9DC8-2216-6F30-B649-60702A055862}"/>
              </a:ext>
            </a:extLst>
          </p:cNvPr>
          <p:cNvSpPr>
            <a:spLocks noGrp="1"/>
          </p:cNvSpPr>
          <p:nvPr>
            <p:ph type="title"/>
          </p:nvPr>
        </p:nvSpPr>
        <p:spPr>
          <a:xfrm>
            <a:off x="677334" y="6248400"/>
            <a:ext cx="8596668" cy="609600"/>
          </a:xfrm>
        </p:spPr>
        <p:txBody>
          <a:bodyPr>
            <a:normAutofit fontScale="90000"/>
          </a:bodyPr>
          <a:lstStyle/>
          <a:p>
            <a:pPr algn="ctr"/>
            <a:r>
              <a:rPr lang="en-US" b="1" dirty="0">
                <a:solidFill>
                  <a:srgbClr val="002060"/>
                </a:solidFill>
                <a:latin typeface="Aparajita" panose="02020603050405020304" pitchFamily="18" charset="0"/>
                <a:cs typeface="Aparajita" panose="02020603050405020304" pitchFamily="18" charset="0"/>
              </a:rPr>
              <a:t>DEPLOYMENT DIAGRAM</a:t>
            </a:r>
          </a:p>
        </p:txBody>
      </p:sp>
      <p:pic>
        <p:nvPicPr>
          <p:cNvPr id="5" name="Content Placeholder 4">
            <a:extLst>
              <a:ext uri="{FF2B5EF4-FFF2-40B4-BE49-F238E27FC236}">
                <a16:creationId xmlns:a16="http://schemas.microsoft.com/office/drawing/2014/main" id="{1BA84E73-E779-D934-7301-CCFCF9DAAB8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335" y="715618"/>
            <a:ext cx="8930492" cy="4147930"/>
          </a:xfrm>
        </p:spPr>
      </p:pic>
    </p:spTree>
    <p:extLst>
      <p:ext uri="{BB962C8B-B14F-4D97-AF65-F5344CB8AC3E}">
        <p14:creationId xmlns:p14="http://schemas.microsoft.com/office/powerpoint/2010/main" val="24970339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D6136-2DD7-ED31-FC63-A2F936B4EE4D}"/>
              </a:ext>
            </a:extLst>
          </p:cNvPr>
          <p:cNvSpPr>
            <a:spLocks noGrp="1"/>
          </p:cNvSpPr>
          <p:nvPr>
            <p:ph type="title"/>
          </p:nvPr>
        </p:nvSpPr>
        <p:spPr>
          <a:xfrm>
            <a:off x="677334" y="6208643"/>
            <a:ext cx="8596668" cy="649357"/>
          </a:xfrm>
        </p:spPr>
        <p:txBody>
          <a:bodyPr>
            <a:normAutofit/>
          </a:bodyPr>
          <a:lstStyle/>
          <a:p>
            <a:pPr algn="ctr"/>
            <a:r>
              <a:rPr lang="en-US" b="1" dirty="0">
                <a:solidFill>
                  <a:srgbClr val="002060"/>
                </a:solidFill>
                <a:latin typeface="Aparajita" panose="02020603050405020304" pitchFamily="18" charset="0"/>
                <a:cs typeface="Aparajita" panose="02020603050405020304" pitchFamily="18" charset="0"/>
              </a:rPr>
              <a:t>COMPONENT DIAGRAM</a:t>
            </a:r>
          </a:p>
        </p:txBody>
      </p:sp>
      <p:pic>
        <p:nvPicPr>
          <p:cNvPr id="7" name="Content Placeholder 6">
            <a:extLst>
              <a:ext uri="{FF2B5EF4-FFF2-40B4-BE49-F238E27FC236}">
                <a16:creationId xmlns:a16="http://schemas.microsoft.com/office/drawing/2014/main" id="{EEB5A6EA-7C2D-4047-B3CA-81DDFC8FCA6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9005" y="1283782"/>
            <a:ext cx="8442037" cy="3639199"/>
          </a:xfrm>
        </p:spPr>
      </p:pic>
    </p:spTree>
    <p:extLst>
      <p:ext uri="{BB962C8B-B14F-4D97-AF65-F5344CB8AC3E}">
        <p14:creationId xmlns:p14="http://schemas.microsoft.com/office/powerpoint/2010/main" val="36311559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FE3B4-325F-4F2F-9757-4FB98308552A}"/>
              </a:ext>
            </a:extLst>
          </p:cNvPr>
          <p:cNvSpPr>
            <a:spLocks noGrp="1"/>
          </p:cNvSpPr>
          <p:nvPr>
            <p:ph type="title"/>
          </p:nvPr>
        </p:nvSpPr>
        <p:spPr>
          <a:xfrm>
            <a:off x="0" y="6197600"/>
            <a:ext cx="10882668" cy="1320800"/>
          </a:xfrm>
        </p:spPr>
        <p:txBody>
          <a:bodyPr/>
          <a:lstStyle/>
          <a:p>
            <a:pPr algn="ctr"/>
            <a:r>
              <a:rPr lang="en-US" b="1">
                <a:solidFill>
                  <a:srgbClr val="002060"/>
                </a:solidFill>
                <a:latin typeface="Aparajita" panose="02020603050405020304" pitchFamily="18" charset="0"/>
                <a:cs typeface="Aparajita" panose="02020603050405020304" pitchFamily="18" charset="0"/>
              </a:rPr>
              <a:t>DATA DICTIONARY</a:t>
            </a:r>
            <a:endParaRPr lang="en-US" dirty="0"/>
          </a:p>
        </p:txBody>
      </p:sp>
      <p:pic>
        <p:nvPicPr>
          <p:cNvPr id="5" name="Content Placeholder 4">
            <a:extLst>
              <a:ext uri="{FF2B5EF4-FFF2-40B4-BE49-F238E27FC236}">
                <a16:creationId xmlns:a16="http://schemas.microsoft.com/office/drawing/2014/main" id="{E6640B37-9A05-4906-BC16-808A1F7D06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127" y="547303"/>
            <a:ext cx="11425382" cy="5346991"/>
          </a:xfrm>
        </p:spPr>
      </p:pic>
    </p:spTree>
    <p:extLst>
      <p:ext uri="{BB962C8B-B14F-4D97-AF65-F5344CB8AC3E}">
        <p14:creationId xmlns:p14="http://schemas.microsoft.com/office/powerpoint/2010/main" val="30455812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276BE-027F-4C7B-8819-7AE1B103A0C3}"/>
              </a:ext>
            </a:extLst>
          </p:cNvPr>
          <p:cNvSpPr>
            <a:spLocks noGrp="1"/>
          </p:cNvSpPr>
          <p:nvPr>
            <p:ph type="title"/>
          </p:nvPr>
        </p:nvSpPr>
        <p:spPr>
          <a:xfrm>
            <a:off x="345176" y="628072"/>
            <a:ext cx="8596668" cy="1320800"/>
          </a:xfrm>
        </p:spPr>
        <p:txBody>
          <a:bodyPr/>
          <a:lstStyle/>
          <a:p>
            <a:pPr algn="ctr"/>
            <a:r>
              <a:rPr lang="en-US" dirty="0">
                <a:solidFill>
                  <a:srgbClr val="002060"/>
                </a:solidFill>
                <a:latin typeface="Aparajita" panose="02020603050405020304" pitchFamily="18" charset="0"/>
                <a:cs typeface="Aparajita" panose="02020603050405020304" pitchFamily="18" charset="0"/>
              </a:rPr>
              <a:t>HOMEPAGE</a:t>
            </a:r>
          </a:p>
        </p:txBody>
      </p:sp>
      <p:pic>
        <p:nvPicPr>
          <p:cNvPr id="5" name="Content Placeholder 4">
            <a:extLst>
              <a:ext uri="{FF2B5EF4-FFF2-40B4-BE49-F238E27FC236}">
                <a16:creationId xmlns:a16="http://schemas.microsoft.com/office/drawing/2014/main" id="{B487595F-4716-48CB-8559-6C7C51C4171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68733" y="2160588"/>
            <a:ext cx="7014572" cy="3881437"/>
          </a:xfrm>
        </p:spPr>
      </p:pic>
    </p:spTree>
    <p:extLst>
      <p:ext uri="{BB962C8B-B14F-4D97-AF65-F5344CB8AC3E}">
        <p14:creationId xmlns:p14="http://schemas.microsoft.com/office/powerpoint/2010/main" val="29143664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FE6C9-057F-404D-8884-2D4550B224A2}"/>
              </a:ext>
            </a:extLst>
          </p:cNvPr>
          <p:cNvSpPr>
            <a:spLocks noGrp="1"/>
          </p:cNvSpPr>
          <p:nvPr>
            <p:ph type="title"/>
          </p:nvPr>
        </p:nvSpPr>
        <p:spPr/>
        <p:txBody>
          <a:bodyPr/>
          <a:lstStyle/>
          <a:p>
            <a:pPr algn="ctr"/>
            <a:r>
              <a:rPr lang="en-US" dirty="0">
                <a:solidFill>
                  <a:srgbClr val="002060"/>
                </a:solidFill>
                <a:latin typeface="Aparajita" panose="02020603050405020304" pitchFamily="18" charset="0"/>
                <a:cs typeface="Aparajita" panose="02020603050405020304" pitchFamily="18" charset="0"/>
              </a:rPr>
              <a:t>LOGIN FORM</a:t>
            </a:r>
          </a:p>
        </p:txBody>
      </p:sp>
      <p:pic>
        <p:nvPicPr>
          <p:cNvPr id="5" name="Content Placeholder 4">
            <a:extLst>
              <a:ext uri="{FF2B5EF4-FFF2-40B4-BE49-F238E27FC236}">
                <a16:creationId xmlns:a16="http://schemas.microsoft.com/office/drawing/2014/main" id="{E65FE19E-9291-4E3E-8769-98A23A90C9F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99094" y="2734278"/>
            <a:ext cx="5553850" cy="2734057"/>
          </a:xfrm>
        </p:spPr>
      </p:pic>
    </p:spTree>
    <p:extLst>
      <p:ext uri="{BB962C8B-B14F-4D97-AF65-F5344CB8AC3E}">
        <p14:creationId xmlns:p14="http://schemas.microsoft.com/office/powerpoint/2010/main" val="38668003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18541-F2CD-4397-AA32-906E18A85258}"/>
              </a:ext>
            </a:extLst>
          </p:cNvPr>
          <p:cNvSpPr>
            <a:spLocks noGrp="1"/>
          </p:cNvSpPr>
          <p:nvPr>
            <p:ph type="title"/>
          </p:nvPr>
        </p:nvSpPr>
        <p:spPr/>
        <p:txBody>
          <a:bodyPr/>
          <a:lstStyle/>
          <a:p>
            <a:pPr algn="ctr"/>
            <a:r>
              <a:rPr lang="en-US" dirty="0">
                <a:solidFill>
                  <a:schemeClr val="tx2">
                    <a:lumMod val="75000"/>
                  </a:schemeClr>
                </a:solidFill>
              </a:rPr>
              <a:t>DASHBOARD</a:t>
            </a:r>
          </a:p>
        </p:txBody>
      </p:sp>
      <p:pic>
        <p:nvPicPr>
          <p:cNvPr id="5" name="Content Placeholder 4">
            <a:extLst>
              <a:ext uri="{FF2B5EF4-FFF2-40B4-BE49-F238E27FC236}">
                <a16:creationId xmlns:a16="http://schemas.microsoft.com/office/drawing/2014/main" id="{3CAFF4B9-CFA3-4A54-8F44-388E5559CE7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0976" y="2160588"/>
            <a:ext cx="6910086" cy="3881437"/>
          </a:xfrm>
        </p:spPr>
      </p:pic>
    </p:spTree>
    <p:extLst>
      <p:ext uri="{BB962C8B-B14F-4D97-AF65-F5344CB8AC3E}">
        <p14:creationId xmlns:p14="http://schemas.microsoft.com/office/powerpoint/2010/main" val="281885190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CD9C9-9F70-4408-B98F-889A22FFDBA7}"/>
              </a:ext>
            </a:extLst>
          </p:cNvPr>
          <p:cNvSpPr>
            <a:spLocks noGrp="1"/>
          </p:cNvSpPr>
          <p:nvPr>
            <p:ph type="title"/>
          </p:nvPr>
        </p:nvSpPr>
        <p:spPr/>
        <p:txBody>
          <a:bodyPr/>
          <a:lstStyle/>
          <a:p>
            <a:pPr algn="ctr"/>
            <a:r>
              <a:rPr lang="en-US" dirty="0">
                <a:solidFill>
                  <a:schemeClr val="tx2">
                    <a:lumMod val="75000"/>
                  </a:schemeClr>
                </a:solidFill>
              </a:rPr>
              <a:t>REGISTRATION FORM</a:t>
            </a:r>
          </a:p>
        </p:txBody>
      </p:sp>
      <p:pic>
        <p:nvPicPr>
          <p:cNvPr id="5" name="Content Placeholder 4">
            <a:extLst>
              <a:ext uri="{FF2B5EF4-FFF2-40B4-BE49-F238E27FC236}">
                <a16:creationId xmlns:a16="http://schemas.microsoft.com/office/drawing/2014/main" id="{6EEBD56E-FB49-4CE7-A24B-E8FC4B1975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80458" y="2194455"/>
            <a:ext cx="4990419" cy="3881437"/>
          </a:xfrm>
        </p:spPr>
      </p:pic>
    </p:spTree>
    <p:extLst>
      <p:ext uri="{BB962C8B-B14F-4D97-AF65-F5344CB8AC3E}">
        <p14:creationId xmlns:p14="http://schemas.microsoft.com/office/powerpoint/2010/main" val="22235185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FA2A1-383E-4796-8AF0-6EF35CE1AD8D}"/>
              </a:ext>
            </a:extLst>
          </p:cNvPr>
          <p:cNvSpPr>
            <a:spLocks noGrp="1"/>
          </p:cNvSpPr>
          <p:nvPr>
            <p:ph type="title"/>
          </p:nvPr>
        </p:nvSpPr>
        <p:spPr/>
        <p:txBody>
          <a:bodyPr/>
          <a:lstStyle/>
          <a:p>
            <a:pPr algn="ctr"/>
            <a:r>
              <a:rPr lang="en-US" dirty="0">
                <a:solidFill>
                  <a:schemeClr val="tx2">
                    <a:lumMod val="75000"/>
                  </a:schemeClr>
                </a:solidFill>
              </a:rPr>
              <a:t>VIEW FORM</a:t>
            </a:r>
          </a:p>
        </p:txBody>
      </p:sp>
      <p:pic>
        <p:nvPicPr>
          <p:cNvPr id="5" name="Content Placeholder 4">
            <a:extLst>
              <a:ext uri="{FF2B5EF4-FFF2-40B4-BE49-F238E27FC236}">
                <a16:creationId xmlns:a16="http://schemas.microsoft.com/office/drawing/2014/main" id="{8DE99D62-EE1F-4184-81B3-8D4123D6EB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08053" y="2160588"/>
            <a:ext cx="4935931" cy="3881437"/>
          </a:xfrm>
        </p:spPr>
      </p:pic>
    </p:spTree>
    <p:extLst>
      <p:ext uri="{BB962C8B-B14F-4D97-AF65-F5344CB8AC3E}">
        <p14:creationId xmlns:p14="http://schemas.microsoft.com/office/powerpoint/2010/main" val="36781496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D80C5-D952-4DD2-A07A-CD9CF731EE7F}"/>
              </a:ext>
            </a:extLst>
          </p:cNvPr>
          <p:cNvSpPr>
            <a:spLocks noGrp="1"/>
          </p:cNvSpPr>
          <p:nvPr>
            <p:ph type="title"/>
          </p:nvPr>
        </p:nvSpPr>
        <p:spPr/>
        <p:txBody>
          <a:bodyPr/>
          <a:lstStyle/>
          <a:p>
            <a:pPr algn="ctr"/>
            <a:r>
              <a:rPr lang="en-US" dirty="0">
                <a:solidFill>
                  <a:schemeClr val="tx2">
                    <a:lumMod val="75000"/>
                  </a:schemeClr>
                </a:solidFill>
              </a:rPr>
              <a:t>DELETE FORM</a:t>
            </a:r>
          </a:p>
        </p:txBody>
      </p:sp>
      <p:pic>
        <p:nvPicPr>
          <p:cNvPr id="5" name="Content Placeholder 4">
            <a:extLst>
              <a:ext uri="{FF2B5EF4-FFF2-40B4-BE49-F238E27FC236}">
                <a16:creationId xmlns:a16="http://schemas.microsoft.com/office/drawing/2014/main" id="{F93D8184-22B8-4366-8173-B9A0FE47DBA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7863" y="2404781"/>
            <a:ext cx="8596312" cy="3393051"/>
          </a:xfrm>
        </p:spPr>
      </p:pic>
    </p:spTree>
    <p:extLst>
      <p:ext uri="{BB962C8B-B14F-4D97-AF65-F5344CB8AC3E}">
        <p14:creationId xmlns:p14="http://schemas.microsoft.com/office/powerpoint/2010/main" val="2437612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4F8D9-B93F-45DD-B1D8-827A13082BEC}"/>
              </a:ext>
            </a:extLst>
          </p:cNvPr>
          <p:cNvSpPr>
            <a:spLocks noGrp="1"/>
          </p:cNvSpPr>
          <p:nvPr>
            <p:ph type="title"/>
          </p:nvPr>
        </p:nvSpPr>
        <p:spPr/>
        <p:txBody>
          <a:bodyPr/>
          <a:lstStyle/>
          <a:p>
            <a:pPr algn="ctr"/>
            <a:r>
              <a:rPr lang="en-US" dirty="0">
                <a:solidFill>
                  <a:schemeClr val="tx2">
                    <a:lumMod val="75000"/>
                  </a:schemeClr>
                </a:solidFill>
              </a:rPr>
              <a:t>UPDATE FORM</a:t>
            </a:r>
          </a:p>
        </p:txBody>
      </p:sp>
      <p:pic>
        <p:nvPicPr>
          <p:cNvPr id="5" name="Content Placeholder 4">
            <a:extLst>
              <a:ext uri="{FF2B5EF4-FFF2-40B4-BE49-F238E27FC236}">
                <a16:creationId xmlns:a16="http://schemas.microsoft.com/office/drawing/2014/main" id="{5BD76695-E36F-4257-B17D-CF8CC6274E4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7825" y="2160588"/>
            <a:ext cx="6866389" cy="4424939"/>
          </a:xfrm>
        </p:spPr>
      </p:pic>
    </p:spTree>
    <p:extLst>
      <p:ext uri="{BB962C8B-B14F-4D97-AF65-F5344CB8AC3E}">
        <p14:creationId xmlns:p14="http://schemas.microsoft.com/office/powerpoint/2010/main" val="2896812367"/>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475</TotalTime>
  <Words>725</Words>
  <Application>Microsoft Office PowerPoint</Application>
  <PresentationFormat>Widescreen</PresentationFormat>
  <Paragraphs>67</Paragraphs>
  <Slides>27</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Aparajita</vt:lpstr>
      <vt:lpstr>Arial</vt:lpstr>
      <vt:lpstr>Calibri</vt:lpstr>
      <vt:lpstr>Mangal</vt:lpstr>
      <vt:lpstr>Times New Roman</vt:lpstr>
      <vt:lpstr>Trebuchet MS</vt:lpstr>
      <vt:lpstr>Wingdings</vt:lpstr>
      <vt:lpstr>Wingdings 3</vt:lpstr>
      <vt:lpstr>Facet</vt:lpstr>
      <vt:lpstr> “Employee Management System”</vt:lpstr>
      <vt:lpstr>INTRODUCTION</vt:lpstr>
      <vt:lpstr>SCOPE OF SYSTEM</vt:lpstr>
      <vt:lpstr>EXISTING SYSTEM</vt:lpstr>
      <vt:lpstr>PROPOSED SYSTEM</vt:lpstr>
      <vt:lpstr>MODULES</vt:lpstr>
      <vt:lpstr>HARDWARE REQUIREMENT</vt:lpstr>
      <vt:lpstr>SOFTWARE REQUIREMENT</vt:lpstr>
      <vt:lpstr>ER-DIAGRAM</vt:lpstr>
      <vt:lpstr>DFD LEVEL - 1</vt:lpstr>
      <vt:lpstr>ACTIVITY DIAGRAM</vt:lpstr>
      <vt:lpstr>CLASS DIAGRAM</vt:lpstr>
      <vt:lpstr>DFD LEVEL - 0</vt:lpstr>
      <vt:lpstr>SEQUENCE DIAGRAM</vt:lpstr>
      <vt:lpstr>STATE CHART</vt:lpstr>
      <vt:lpstr>USE-CASE DIAGRAM</vt:lpstr>
      <vt:lpstr>DFD LEVEL - 2</vt:lpstr>
      <vt:lpstr>DEPLOYMENT DIAGRAM</vt:lpstr>
      <vt:lpstr>COMPONENT DIAGRAM</vt:lpstr>
      <vt:lpstr>DATA DICTIONARY</vt:lpstr>
      <vt:lpstr>HOMEPAGE</vt:lpstr>
      <vt:lpstr>LOGIN FORM</vt:lpstr>
      <vt:lpstr>DASHBOARD</vt:lpstr>
      <vt:lpstr>REGISTRATION FORM</vt:lpstr>
      <vt:lpstr>VIEW FORM</vt:lpstr>
      <vt:lpstr>DELETE FORM</vt:lpstr>
      <vt:lpstr>UPDATE FORM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NOTES MANAGEMENT SYSTEM </dc:title>
  <dc:creator>TEJAS SHINDE</dc:creator>
  <cp:lastModifiedBy>TEJAS SHINDE</cp:lastModifiedBy>
  <cp:revision>26</cp:revision>
  <dcterms:created xsi:type="dcterms:W3CDTF">2023-03-05T17:35:02Z</dcterms:created>
  <dcterms:modified xsi:type="dcterms:W3CDTF">2023-09-30T03:47:56Z</dcterms:modified>
</cp:coreProperties>
</file>